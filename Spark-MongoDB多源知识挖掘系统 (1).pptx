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7" r:id="rId3"/>
    <p:sldId id="256" r:id="rId4"/>
    <p:sldId id="259" r:id="rId5"/>
    <p:sldId id="258" r:id="rId6"/>
    <p:sldId id="274" r:id="rId7"/>
    <p:sldId id="271" r:id="rId9"/>
    <p:sldId id="272" r:id="rId10"/>
    <p:sldId id="273" r:id="rId11"/>
    <p:sldId id="263" r:id="rId12"/>
    <p:sldId id="261" r:id="rId13"/>
    <p:sldId id="264" r:id="rId14"/>
    <p:sldId id="266" r:id="rId15"/>
    <p:sldId id="270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8A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-1350" y="-864"/>
      </p:cViewPr>
      <p:guideLst>
        <p:guide orient="horz" pos="2183"/>
        <p:guide pos="3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建议用时 55 秒。按“根因→后果”讲三张卡片，再讲清楚三个根因如何共同指向同一个缺口，最后一句话说明项目技术选择是在回应这个缺口，而不是堆砌技术名词。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Picture 2" descr="C:\Users\Administrator\Desktop\新品上市.png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solidFill>
            <a:srgbClr val="68A5A2"/>
          </a:solidFill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5941058" y="2088212"/>
            <a:ext cx="309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endParaRPr lang="zh-CN" altLang="en-US" sz="6000" dirty="0">
              <a:solidFill>
                <a:srgbClr val="68A5A2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494155" y="2240280"/>
            <a:ext cx="8867775" cy="221678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>
              <a:lnSpc>
                <a:spcPct val="112000"/>
              </a:lnSpc>
            </a:pPr>
            <a:r>
              <a:rPr sz="2800" b="1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  <a:t>基于 Spark 与 MongoDB 的</a:t>
            </a:r>
            <a:br>
              <a:rPr sz="2800" b="1">
                <a:solidFill>
                  <a:schemeClr val="tx1"/>
                </a:solidFill>
                <a:latin typeface="微软雅黑" panose="020B0503020204020204" charset="-122"/>
                <a:sym typeface="+mn-ea"/>
              </a:rPr>
            </a:br>
            <a:r>
              <a:rPr sz="2800">
                <a:solidFill>
                  <a:schemeClr val="tx1"/>
                </a:solidFill>
                <a:sym typeface="+mn-ea"/>
              </a:rPr>
              <a:t>多源技术内容知识挖掘与个性化发现 Web 系统</a:t>
            </a:r>
            <a:endParaRPr lang="zh-CN" altLang="en-US" sz="28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944910" y="3559628"/>
            <a:ext cx="8302171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endParaRPr lang="zh-CN" altLang="en-US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073275" y="4523105"/>
            <a:ext cx="611886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组长：陶文杰</a:t>
            </a:r>
            <a:r>
              <a:rPr lang="en-US" altLang="zh-CN"/>
              <a:t> </a:t>
            </a:r>
            <a:br>
              <a:rPr lang="en-US" altLang="zh-CN"/>
            </a:br>
            <a:r>
              <a:rPr lang="zh-CN" altLang="en-US"/>
              <a:t>组员：</a:t>
            </a:r>
            <a:r>
              <a:rPr lang="zh-CN" altLang="en-US"/>
              <a:t>陈铭宇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52575" y="3490595"/>
            <a:ext cx="80530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Web-based System for Knowledge Mining and Personalized Discovery of Multi-source Technical Content Using Spark and MongoDB</a:t>
            </a:r>
            <a:endParaRPr lang="en-US" altLang="zh-C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椭圆 9"/>
          <p:cNvSpPr/>
          <p:nvPr/>
        </p:nvSpPr>
        <p:spPr>
          <a:xfrm>
            <a:off x="1404062" y="2420849"/>
            <a:ext cx="1712686" cy="1712686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03816" y="2936497"/>
            <a:ext cx="1313180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4400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目录</a:t>
            </a:r>
            <a:endParaRPr lang="zh-CN" altLang="en-US" sz="44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3" name="椭圆 12"/>
          <p:cNvSpPr/>
          <p:nvPr>
            <p:custDataLst>
              <p:tags r:id="rId1"/>
            </p:custDataLst>
          </p:nvPr>
        </p:nvSpPr>
        <p:spPr>
          <a:xfrm>
            <a:off x="3646130" y="200679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01</a:t>
            </a:r>
            <a:endParaRPr lang="zh-CN" altLang="en-US" sz="28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4" name="椭圆 13"/>
          <p:cNvSpPr/>
          <p:nvPr>
            <p:custDataLst>
              <p:tags r:id="rId2"/>
            </p:custDataLst>
          </p:nvPr>
        </p:nvSpPr>
        <p:spPr>
          <a:xfrm>
            <a:off x="3646130" y="392630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03</a:t>
            </a:r>
            <a:endParaRPr lang="zh-CN" altLang="en-US" sz="28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5" name="椭圆 14"/>
          <p:cNvSpPr/>
          <p:nvPr>
            <p:custDataLst>
              <p:tags r:id="rId3"/>
            </p:custDataLst>
          </p:nvPr>
        </p:nvSpPr>
        <p:spPr>
          <a:xfrm>
            <a:off x="7134892" y="2006796"/>
            <a:ext cx="762389" cy="762389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 dirty="0" smtClean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02</a:t>
            </a:r>
            <a:endParaRPr lang="zh-CN" altLang="en-US" sz="28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4526340" y="2044561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选题</a:t>
            </a:r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介绍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4526340" y="3933480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数据来源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9" name="矩形 18"/>
          <p:cNvSpPr/>
          <p:nvPr>
            <p:custDataLst>
              <p:tags r:id="rId6"/>
            </p:custDataLst>
          </p:nvPr>
        </p:nvSpPr>
        <p:spPr>
          <a:xfrm>
            <a:off x="8073796" y="2044652"/>
            <a:ext cx="944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分工表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17" name="矩形 16"/>
          <p:cNvSpPr/>
          <p:nvPr>
            <p:custDataLst>
              <p:tags r:id="rId7"/>
            </p:custDataLst>
          </p:nvPr>
        </p:nvSpPr>
        <p:spPr>
          <a:xfrm>
            <a:off x="4526340" y="2415734"/>
            <a:ext cx="30988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26280" y="2400935"/>
            <a:ext cx="28886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Project Topic Introduction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074025" y="2384425"/>
            <a:ext cx="2694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Work Division Table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526280" y="4320540"/>
            <a:ext cx="19805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</a:rPr>
              <a:t>Data Sources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872822" y="2100324"/>
            <a:ext cx="2446351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01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90476" y="3236214"/>
            <a:ext cx="2011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36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选题介绍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This unfolds the origin and vision behind our project</a:t>
            </a:r>
            <a:endParaRPr lang="en-US" altLang="zh-CN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solidFill>
            <a:srgbClr val="68A5A2"/>
          </a:solidFill>
        </p:spPr>
      </p:pic>
      <p:sp>
        <p:nvSpPr>
          <p:cNvPr id="32" name="圆角矩形 31"/>
          <p:cNvSpPr/>
          <p:nvPr/>
        </p:nvSpPr>
        <p:spPr>
          <a:xfrm>
            <a:off x="1429601" y="2024612"/>
            <a:ext cx="2937413" cy="3560407"/>
          </a:xfrm>
          <a:prstGeom prst="roundRect">
            <a:avLst/>
          </a:prstGeom>
          <a:noFill/>
          <a:ln w="15875">
            <a:solidFill>
              <a:srgbClr val="68A5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2109790" y="1790699"/>
            <a:ext cx="1677610" cy="432048"/>
            <a:chOff x="2109790" y="1790699"/>
            <a:chExt cx="1677610" cy="432048"/>
          </a:xfrm>
          <a:solidFill>
            <a:srgbClr val="68A5A2"/>
          </a:solidFill>
        </p:grpSpPr>
        <p:sp>
          <p:nvSpPr>
            <p:cNvPr id="34" name="圆角矩形 33"/>
            <p:cNvSpPr/>
            <p:nvPr/>
          </p:nvSpPr>
          <p:spPr>
            <a:xfrm>
              <a:off x="2109790" y="1790699"/>
              <a:ext cx="1440160" cy="432048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2314766" y="1820153"/>
              <a:ext cx="1472634" cy="367030"/>
            </a:xfrm>
            <a:prstGeom prst="rect">
              <a:avLst/>
            </a:prstGeom>
            <a:noFill/>
          </p:spPr>
          <p:txBody>
            <a:bodyPr wrap="square" lIns="91431" tIns="45715" rIns="91431" bIns="45715" rtlCol="0">
              <a:spAutoFit/>
            </a:bodyPr>
            <a:lstStyle/>
            <a:p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  <p:pic>
        <p:nvPicPr>
          <p:cNvPr id="44" name="Picture 3" descr="F:\出售\PPT\______________图片素材\59f5225d4dd36b09f8ade3e55c75581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2416" r="914"/>
          <a:stretch>
            <a:fillRect/>
          </a:stretch>
        </p:blipFill>
        <p:spPr bwMode="auto">
          <a:xfrm>
            <a:off x="9213738" y="3893558"/>
            <a:ext cx="2103572" cy="169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图片 44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14" r="15214"/>
          <a:stretch>
            <a:fillRect/>
          </a:stretch>
        </p:blipFill>
        <p:spPr>
          <a:xfrm>
            <a:off x="7178067" y="3893559"/>
            <a:ext cx="1927834" cy="1691460"/>
          </a:xfrm>
          <a:prstGeom prst="rect">
            <a:avLst/>
          </a:prstGeom>
        </p:spPr>
      </p:pic>
      <p:pic>
        <p:nvPicPr>
          <p:cNvPr id="43" name="图片 4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067" y="1794000"/>
            <a:ext cx="4139243" cy="1825218"/>
          </a:xfrm>
          <a:prstGeom prst="rect">
            <a:avLst/>
          </a:prstGeom>
        </p:spPr>
      </p:pic>
      <p:grpSp>
        <p:nvGrpSpPr>
          <p:cNvPr id="46" name="组合 45"/>
          <p:cNvGrpSpPr/>
          <p:nvPr/>
        </p:nvGrpSpPr>
        <p:grpSpPr>
          <a:xfrm>
            <a:off x="4697730" y="2322195"/>
            <a:ext cx="2296795" cy="450850"/>
            <a:chOff x="5048726" y="2321898"/>
            <a:chExt cx="1531822" cy="450830"/>
          </a:xfrm>
          <a:solidFill>
            <a:srgbClr val="68A5A2"/>
          </a:solidFill>
        </p:grpSpPr>
        <p:sp>
          <p:nvSpPr>
            <p:cNvPr id="47" name="圆角矩形 46"/>
            <p:cNvSpPr/>
            <p:nvPr/>
          </p:nvSpPr>
          <p:spPr>
            <a:xfrm>
              <a:off x="5048726" y="2325711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31110" y="2321898"/>
              <a:ext cx="1244303" cy="367030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697095" y="3224530"/>
            <a:ext cx="2297430" cy="447040"/>
            <a:chOff x="5048726" y="3230247"/>
            <a:chExt cx="1531822" cy="447017"/>
          </a:xfrm>
          <a:solidFill>
            <a:srgbClr val="68A5A2"/>
          </a:solidFill>
        </p:grpSpPr>
        <p:sp>
          <p:nvSpPr>
            <p:cNvPr id="50" name="圆角矩形 49"/>
            <p:cNvSpPr/>
            <p:nvPr/>
          </p:nvSpPr>
          <p:spPr>
            <a:xfrm>
              <a:off x="5048726" y="3230247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5231110" y="3257586"/>
              <a:ext cx="1244303" cy="367030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  <p:grpSp>
        <p:nvGrpSpPr>
          <p:cNvPr id="52" name="组合 51"/>
          <p:cNvGrpSpPr/>
          <p:nvPr>
            <p:custDataLst>
              <p:tags r:id="rId5"/>
            </p:custDataLst>
          </p:nvPr>
        </p:nvGrpSpPr>
        <p:grpSpPr>
          <a:xfrm>
            <a:off x="4697095" y="4123055"/>
            <a:ext cx="2298065" cy="447040"/>
            <a:chOff x="5048726" y="4122663"/>
            <a:chExt cx="1531822" cy="447067"/>
          </a:xfrm>
          <a:solidFill>
            <a:srgbClr val="68A5A2"/>
          </a:solidFill>
        </p:grpSpPr>
        <p:sp>
          <p:nvSpPr>
            <p:cNvPr id="53" name="圆角矩形 52"/>
            <p:cNvSpPr/>
            <p:nvPr>
              <p:custDataLst>
                <p:tags r:id="rId6"/>
              </p:custDataLst>
            </p:nvPr>
          </p:nvSpPr>
          <p:spPr>
            <a:xfrm>
              <a:off x="5048726" y="4122713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54" name="TextBox 53"/>
            <p:cNvSpPr txBox="1"/>
            <p:nvPr>
              <p:custDataLst>
                <p:tags r:id="rId7"/>
              </p:custDataLst>
            </p:nvPr>
          </p:nvSpPr>
          <p:spPr>
            <a:xfrm>
              <a:off x="5231110" y="4122663"/>
              <a:ext cx="1244303" cy="367030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  <p:grpSp>
        <p:nvGrpSpPr>
          <p:cNvPr id="55" name="组合 54"/>
          <p:cNvGrpSpPr/>
          <p:nvPr>
            <p:custDataLst>
              <p:tags r:id="rId8"/>
            </p:custDataLst>
          </p:nvPr>
        </p:nvGrpSpPr>
        <p:grpSpPr>
          <a:xfrm>
            <a:off x="4697095" y="5005705"/>
            <a:ext cx="2298065" cy="447040"/>
            <a:chOff x="5048726" y="5005906"/>
            <a:chExt cx="1531822" cy="447017"/>
          </a:xfrm>
          <a:solidFill>
            <a:srgbClr val="68A5A2"/>
          </a:solidFill>
        </p:grpSpPr>
        <p:sp>
          <p:nvSpPr>
            <p:cNvPr id="56" name="圆角矩形 55"/>
            <p:cNvSpPr/>
            <p:nvPr>
              <p:custDataLst>
                <p:tags r:id="rId9"/>
              </p:custDataLst>
            </p:nvPr>
          </p:nvSpPr>
          <p:spPr>
            <a:xfrm>
              <a:off x="5048726" y="5005906"/>
              <a:ext cx="1531822" cy="447017"/>
            </a:xfrm>
            <a:prstGeom prst="round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57" name="TextBox 56"/>
            <p:cNvSpPr txBox="1"/>
            <p:nvPr>
              <p:custDataLst>
                <p:tags r:id="rId10"/>
              </p:custDataLst>
            </p:nvPr>
          </p:nvSpPr>
          <p:spPr>
            <a:xfrm>
              <a:off x="5231110" y="5015537"/>
              <a:ext cx="1244303" cy="367030"/>
            </a:xfrm>
            <a:prstGeom prst="rect">
              <a:avLst/>
            </a:prstGeom>
            <a:grpFill/>
          </p:spPr>
          <p:txBody>
            <a:bodyPr wrap="square" lIns="91431" tIns="45715" rIns="91431" bIns="45715" rtlCol="0">
              <a:spAutoFit/>
            </a:bodyPr>
            <a:lstStyle/>
            <a:p>
              <a:endParaRPr lang="zh-CN" altLang="en-US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  <p:sp>
        <p:nvSpPr>
          <p:cNvPr id="58" name="燕尾形 57"/>
          <p:cNvSpPr/>
          <p:nvPr/>
        </p:nvSpPr>
        <p:spPr>
          <a:xfrm rot="5400000">
            <a:off x="5699144" y="1864573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59" name="燕尾形 58"/>
          <p:cNvSpPr/>
          <p:nvPr/>
        </p:nvSpPr>
        <p:spPr>
          <a:xfrm rot="5400000">
            <a:off x="5699144" y="2872869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60" name="燕尾形 59"/>
          <p:cNvSpPr/>
          <p:nvPr>
            <p:custDataLst>
              <p:tags r:id="rId11"/>
            </p:custDataLst>
          </p:nvPr>
        </p:nvSpPr>
        <p:spPr>
          <a:xfrm rot="5400000">
            <a:off x="5699144" y="3754497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61" name="燕尾形 60"/>
          <p:cNvSpPr/>
          <p:nvPr>
            <p:custDataLst>
              <p:tags r:id="rId12"/>
            </p:custDataLst>
          </p:nvPr>
        </p:nvSpPr>
        <p:spPr>
          <a:xfrm rot="5400000">
            <a:off x="5699144" y="4608150"/>
            <a:ext cx="216024" cy="320542"/>
          </a:xfrm>
          <a:prstGeom prst="chevron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5019090" y="839966"/>
            <a:ext cx="2722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项目背景与待解决问题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4635550" y="1196534"/>
            <a:ext cx="3489960" cy="33718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Project Background and Key Challenges</a:t>
            </a:r>
            <a:endParaRPr lang="en-US" altLang="zh-CN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38630" y="2222500"/>
            <a:ext cx="229870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技术学习资源分散于问答社区、学术论文。传统搜索推荐无法区分：</a:t>
            </a:r>
            <a:endParaRPr lang="zh-CN" altLang="en-US"/>
          </a:p>
          <a:p>
            <a:r>
              <a:rPr lang="en-US" altLang="zh-CN"/>
              <a:t>1.</a:t>
            </a:r>
            <a:r>
              <a:rPr lang="zh-CN" altLang="en-US"/>
              <a:t>用户已经掌握的旧知识</a:t>
            </a:r>
            <a:endParaRPr lang="zh-CN" altLang="en-US"/>
          </a:p>
          <a:p>
            <a:r>
              <a:rPr lang="en-US" altLang="zh-CN"/>
              <a:t>2.</a:t>
            </a:r>
            <a:r>
              <a:rPr lang="zh-CN" altLang="en-US"/>
              <a:t>可以深化理解的相关内容</a:t>
            </a:r>
            <a:endParaRPr lang="zh-CN" altLang="en-US"/>
          </a:p>
          <a:p>
            <a:r>
              <a:rPr lang="en-US" altLang="zh-CN"/>
              <a:t>3.</a:t>
            </a:r>
            <a:r>
              <a:rPr lang="zh-CN" altLang="en-US"/>
              <a:t>从未接触的全新主题</a:t>
            </a:r>
            <a:endParaRPr lang="zh-CN" altLang="en-US"/>
          </a:p>
          <a:p>
            <a:r>
              <a:rPr lang="en-US" altLang="zh-CN"/>
              <a:t>4.</a:t>
            </a:r>
            <a:r>
              <a:rPr lang="zh-CN" altLang="en-US"/>
              <a:t>推荐结果的计算依据与来源证据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133975" y="236061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1600"/>
              <a:t>多源数据采集</a:t>
            </a:r>
            <a:endParaRPr lang="zh-CN" altLang="en-US" sz="1600"/>
          </a:p>
        </p:txBody>
      </p:sp>
      <p:sp>
        <p:nvSpPr>
          <p:cNvPr id="4" name="文本框 3"/>
          <p:cNvSpPr txBox="1"/>
          <p:nvPr/>
        </p:nvSpPr>
        <p:spPr>
          <a:xfrm>
            <a:off x="4891405" y="32591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Spark </a:t>
            </a:r>
            <a:r>
              <a:rPr lang="zh-CN" altLang="en-US" sz="1600"/>
              <a:t>批量挖掘处理</a:t>
            </a:r>
            <a:endParaRPr lang="zh-CN" altLang="en-US" sz="1600"/>
          </a:p>
        </p:txBody>
      </p:sp>
      <p:sp>
        <p:nvSpPr>
          <p:cNvPr id="5" name="文本框 4"/>
          <p:cNvSpPr txBox="1"/>
          <p:nvPr/>
        </p:nvSpPr>
        <p:spPr>
          <a:xfrm>
            <a:off x="4819015" y="4166553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1600"/>
              <a:t>MongoDB </a:t>
            </a:r>
            <a:r>
              <a:rPr lang="zh-CN" altLang="en-US" sz="1600"/>
              <a:t>持久化存储</a:t>
            </a:r>
            <a:endParaRPr lang="zh-CN" altLang="en-US" sz="1600"/>
          </a:p>
        </p:txBody>
      </p:sp>
      <p:sp>
        <p:nvSpPr>
          <p:cNvPr id="6" name="文本框 5"/>
          <p:cNvSpPr txBox="1"/>
          <p:nvPr/>
        </p:nvSpPr>
        <p:spPr>
          <a:xfrm>
            <a:off x="4819015" y="5074285"/>
            <a:ext cx="225107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Web </a:t>
            </a:r>
            <a:r>
              <a:rPr lang="zh-CN" altLang="en-US" sz="1600"/>
              <a:t>个性化知识发现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58" grpId="0" animBg="1"/>
      <p:bldP spid="59" grpId="0" animBg="1"/>
      <p:bldP spid="60" grpId="0" animBg="1"/>
      <p:bldP spid="6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背景（沿用原稿）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5400000">
            <a:off x="2667165" y="-2666847"/>
            <a:ext cx="6858000" cy="121916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27950" y="393192"/>
            <a:ext cx="8961120" cy="4565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305B4C"/>
                </a:solidFill>
                <a:latin typeface="微软雅黑" panose="020B0503020204020204" charset="-122"/>
              </a:rPr>
              <a:t>选题的因果逻辑：为什么这个问题成立</a:t>
            </a:r>
            <a:endParaRPr sz="250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646238" y="859536"/>
            <a:ext cx="8778240" cy="2260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5786F"/>
                </a:solidFill>
                <a:latin typeface="微软雅黑" panose="020B0503020204020204" charset="-122"/>
              </a:rPr>
              <a:t>ROOT CAUSE → CONSEQUENCE → WHY EXISTING TOOLS FAIL</a:t>
            </a:r>
            <a:endParaRPr sz="1000" b="0">
              <a:solidFill>
                <a:srgbClr val="65786F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5030" y="1143000"/>
            <a:ext cx="9921240" cy="32004"/>
          </a:xfrm>
          <a:prstGeom prst="rect">
            <a:avLst/>
          </a:prstGeom>
          <a:solidFill>
            <a:srgbClr val="7DA389"/>
          </a:solidFill>
          <a:ln>
            <a:solidFill>
              <a:srgbClr val="7D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43318" y="1417320"/>
            <a:ext cx="3127248" cy="2606040"/>
          </a:xfrm>
          <a:prstGeom prst="roundRect">
            <a:avLst/>
          </a:prstGeom>
          <a:solidFill>
            <a:srgbClr val="EEF5EE"/>
          </a:solidFill>
          <a:ln w="15240">
            <a:solidFill>
              <a:srgbClr val="7D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44486" y="1572768"/>
            <a:ext cx="594360" cy="384048"/>
          </a:xfrm>
          <a:prstGeom prst="roundRect">
            <a:avLst/>
          </a:prstGeom>
          <a:solidFill>
            <a:srgbClr val="305B4C"/>
          </a:solidFill>
          <a:ln w="15240">
            <a:solidFill>
              <a:srgbClr val="30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9350" y="1641348"/>
            <a:ext cx="484632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39430" y="1572768"/>
            <a:ext cx="2103120" cy="333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305B4C"/>
                </a:solidFill>
                <a:latin typeface="微软雅黑" panose="020B0503020204020204" charset="-122"/>
              </a:rPr>
              <a:t>来源割裂</a:t>
            </a:r>
            <a:endParaRPr sz="170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71918" y="201168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5B4C"/>
                </a:solidFill>
                <a:latin typeface="微软雅黑" panose="020B0503020204020204" charset="-122"/>
              </a:rPr>
              <a:t>根因</a:t>
            </a:r>
            <a:endParaRPr sz="110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71918" y="2249424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工程问答社区与学术论文各自成体系，字段、检索入口互不相通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71918" y="3017520"/>
            <a:ext cx="128016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5786F"/>
                </a:solidFill>
                <a:latin typeface="微软雅黑" panose="020B0503020204020204" charset="-122"/>
              </a:rPr>
              <a:t>↓ 导致</a:t>
            </a:r>
            <a:endParaRPr sz="1100" b="1">
              <a:solidFill>
                <a:srgbClr val="65786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371918" y="324612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05B4C"/>
                </a:solidFill>
                <a:latin typeface="微软雅黑" panose="020B0503020204020204" charset="-122"/>
              </a:rPr>
              <a:t>后果</a:t>
            </a:r>
            <a:endParaRPr sz="110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71918" y="3465576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同一技术知识分散两端，用户要来回搜索才能拼出完整路径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44886" y="1417320"/>
            <a:ext cx="3127248" cy="2606040"/>
          </a:xfrm>
          <a:prstGeom prst="roundRect">
            <a:avLst/>
          </a:prstGeom>
          <a:solidFill>
            <a:srgbClr val="EEF5EE"/>
          </a:solidFill>
          <a:ln w="15240">
            <a:solidFill>
              <a:srgbClr val="7D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746054" y="1572768"/>
            <a:ext cx="594360" cy="384048"/>
          </a:xfrm>
          <a:prstGeom prst="roundRect">
            <a:avLst/>
          </a:prstGeom>
          <a:solidFill>
            <a:srgbClr val="D37F58"/>
          </a:solidFill>
          <a:ln w="15240">
            <a:solidFill>
              <a:srgbClr val="D37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00918" y="1641348"/>
            <a:ext cx="484632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40998" y="1572768"/>
            <a:ext cx="2103120" cy="333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37F58"/>
                </a:solidFill>
                <a:latin typeface="微软雅黑" panose="020B0503020204020204" charset="-122"/>
              </a:rPr>
              <a:t>无知识状态感知</a:t>
            </a:r>
            <a:endParaRPr sz="1700" b="1">
              <a:solidFill>
                <a:srgbClr val="D37F58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773486" y="201168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37F58"/>
                </a:solidFill>
                <a:latin typeface="微软雅黑" panose="020B0503020204020204" charset="-122"/>
              </a:rPr>
              <a:t>根因</a:t>
            </a:r>
            <a:endParaRPr sz="1100" b="1">
              <a:solidFill>
                <a:srgbClr val="D37F58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73486" y="2249424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传统检索/推荐只按关键词相关度或热度排序，不记录用户已掌握什么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73486" y="3017520"/>
            <a:ext cx="128016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5786F"/>
                </a:solidFill>
                <a:latin typeface="微软雅黑" panose="020B0503020204020204" charset="-122"/>
              </a:rPr>
              <a:t>↓ 导致</a:t>
            </a:r>
            <a:endParaRPr sz="1100" b="1">
              <a:solidFill>
                <a:srgbClr val="65786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773486" y="324612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37F58"/>
                </a:solidFill>
                <a:latin typeface="微软雅黑" panose="020B0503020204020204" charset="-122"/>
              </a:rPr>
              <a:t>后果</a:t>
            </a:r>
            <a:endParaRPr sz="1100" b="1">
              <a:solidFill>
                <a:srgbClr val="D37F58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773486" y="3465576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已掌握内容反复出现，真正的新知识、深化知识被淹没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946454" y="1417320"/>
            <a:ext cx="3127248" cy="2606040"/>
          </a:xfrm>
          <a:prstGeom prst="roundRect">
            <a:avLst/>
          </a:prstGeom>
          <a:solidFill>
            <a:srgbClr val="EEF5EE"/>
          </a:solidFill>
          <a:ln w="15240">
            <a:solidFill>
              <a:srgbClr val="7DA3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147622" y="1572768"/>
            <a:ext cx="594360" cy="384048"/>
          </a:xfrm>
          <a:prstGeom prst="roundRect">
            <a:avLst/>
          </a:prstGeom>
          <a:solidFill>
            <a:srgbClr val="DDAC5B"/>
          </a:solidFill>
          <a:ln w="15240">
            <a:solidFill>
              <a:srgbClr val="DDA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02486" y="1641348"/>
            <a:ext cx="484632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1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842566" y="1572768"/>
            <a:ext cx="2103120" cy="33337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DDAC5B"/>
                </a:solidFill>
                <a:latin typeface="微软雅黑" panose="020B0503020204020204" charset="-122"/>
              </a:rPr>
              <a:t>结果不可追溯</a:t>
            </a:r>
            <a:endParaRPr sz="1700" b="1">
              <a:solidFill>
                <a:srgbClr val="DDAC5B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75054" y="201168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DAC5B"/>
                </a:solidFill>
                <a:latin typeface="微软雅黑" panose="020B0503020204020204" charset="-122"/>
              </a:rPr>
              <a:t>根因</a:t>
            </a:r>
            <a:endParaRPr sz="1100" b="1">
              <a:solidFill>
                <a:srgbClr val="DDAC5B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175054" y="2249424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推荐或摘要环节不保留来源与计算依据，尤其当结论由 LLM 直接生成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175054" y="3017520"/>
            <a:ext cx="128016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5786F"/>
                </a:solidFill>
                <a:latin typeface="微软雅黑" panose="020B0503020204020204" charset="-122"/>
              </a:rPr>
              <a:t>↓ 导致</a:t>
            </a:r>
            <a:endParaRPr sz="1100" b="1">
              <a:solidFill>
                <a:srgbClr val="65786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175054" y="3246120"/>
            <a:ext cx="914400" cy="2413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DDAC5B"/>
                </a:solidFill>
                <a:latin typeface="微软雅黑" panose="020B0503020204020204" charset="-122"/>
              </a:rPr>
              <a:t>后果</a:t>
            </a:r>
            <a:endParaRPr sz="1100" b="1">
              <a:solidFill>
                <a:srgbClr val="DDAC5B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175054" y="3465576"/>
            <a:ext cx="2651760" cy="487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 b="0">
                <a:solidFill>
                  <a:srgbClr val="273D35"/>
                </a:solidFill>
                <a:latin typeface="微软雅黑" panose="020B0503020204020204" charset="-122"/>
              </a:rPr>
              <a:t>用户和答辩场景都无法验证推荐是否可信、证据在哪里</a:t>
            </a:r>
            <a:endParaRPr sz="12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417638" y="4224528"/>
            <a:ext cx="9372600" cy="1691640"/>
          </a:xfrm>
          <a:prstGeom prst="roundRect">
            <a:avLst/>
          </a:prstGeom>
          <a:solidFill>
            <a:srgbClr val="FAF9F4"/>
          </a:solidFill>
          <a:ln w="15240">
            <a:solidFill>
              <a:srgbClr val="305B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37678" y="4389120"/>
            <a:ext cx="4572000" cy="3028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05B4C"/>
                </a:solidFill>
                <a:latin typeface="微软雅黑" panose="020B0503020204020204" charset="-122"/>
              </a:rPr>
              <a:t>三个根因共同指向同一个缺口</a:t>
            </a:r>
            <a:endParaRPr sz="150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737678" y="4700016"/>
            <a:ext cx="8732520" cy="528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0">
                <a:solidFill>
                  <a:srgbClr val="273D35"/>
                </a:solidFill>
                <a:latin typeface="微软雅黑" panose="020B0503020204020204" charset="-122"/>
              </a:rPr>
              <a:t>现有搜索/推荐既不知道用户已有知识，也不保留来源与计算依据，因此无法做到“只发现值得学的新知识，且可验证”。</a:t>
            </a:r>
            <a:endParaRPr sz="1350" b="0">
              <a:solidFill>
                <a:srgbClr val="273D35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737678" y="5193792"/>
            <a:ext cx="8732520" cy="528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305B4C"/>
                </a:solidFill>
                <a:latin typeface="微软雅黑" panose="020B0503020204020204" charset="-122"/>
              </a:rPr>
              <a:t>本项目的应对：Stack Exchange + arXiv 提供多源真实文本 → Spark 完成可复现的清洗与特征计算 → MongoDB 保留全部原文与计算结果 → Web 呈现可解释、可追溯的个性化推荐。</a:t>
            </a:r>
            <a:endParaRPr sz="1350" b="1">
              <a:solidFill>
                <a:srgbClr val="305B4C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0750" y="6272784"/>
            <a:ext cx="3200400" cy="2108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5786F"/>
                </a:solidFill>
                <a:latin typeface="微软雅黑" panose="020B0503020204020204" charset="-122"/>
              </a:rPr>
              <a:t>选题方案 · 尚待实施</a:t>
            </a:r>
            <a:endParaRPr sz="900" b="0">
              <a:solidFill>
                <a:srgbClr val="65786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61638" y="6263640"/>
            <a:ext cx="384048" cy="2108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5786F"/>
                </a:solidFill>
                <a:latin typeface="微软雅黑" panose="020B0503020204020204" charset="-122"/>
              </a:rPr>
              <a:t>2</a:t>
            </a:r>
            <a:endParaRPr sz="900" b="0">
              <a:solidFill>
                <a:srgbClr val="65786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2" name="矩形 61"/>
          <p:cNvSpPr/>
          <p:nvPr/>
        </p:nvSpPr>
        <p:spPr>
          <a:xfrm>
            <a:off x="5781090" y="8399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选题调研结论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63" name="矩形 62"/>
          <p:cNvSpPr/>
          <p:nvPr/>
        </p:nvSpPr>
        <p:spPr>
          <a:xfrm>
            <a:off x="5749975" y="1133034"/>
            <a:ext cx="12611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Topic Research Findings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02" name="文本框 1"/>
          <p:cNvSpPr txBox="1"/>
          <p:nvPr/>
        </p:nvSpPr>
        <p:spPr>
          <a:xfrm>
            <a:off x="1160145" y="1546225"/>
            <a:ext cx="9871710" cy="376618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项目定位与目标用户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技术知识分散于 Stack Exchange 问答与 arXiv 论文，学习者难以分辨已掌握、可深化与全新内容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目标用户：持续学习技术的学生、跟踪工程与学术进展的开发者、需要按已有知识过滤重复内容的自学者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推荐选题方案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Stack Exchange 多站点问答为规模主源，arXiv CS 标题摘要为稳定异构补充源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Spark 完成清洗、TF-IDF 与相似度计算；MongoDB 管理文档、结果与用户知识画像；Flask+Web 承担业务与交互层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个性化机制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按用户已有知识画像，将候选内容区分为已知过滤、深化知识、新知识与可能冲突（需人工复核）四类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2" name="矩形 61"/>
          <p:cNvSpPr/>
          <p:nvPr/>
        </p:nvSpPr>
        <p:spPr>
          <a:xfrm>
            <a:off x="5781090" y="8399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实施方案：最小链路与分层设计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363" name="矩形 62"/>
          <p:cNvSpPr/>
          <p:nvPr/>
        </p:nvSpPr>
        <p:spPr>
          <a:xfrm>
            <a:off x="5749975" y="1133034"/>
            <a:ext cx="12611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Implementation Plan · Architecture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302" name="文本框 1"/>
          <p:cNvSpPr txBox="1"/>
          <p:nvPr/>
        </p:nvSpPr>
        <p:spPr>
          <a:xfrm>
            <a:off x="956310" y="1546225"/>
            <a:ext cx="9871710" cy="376618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最小完整链路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Stack Exchange + arXiv → 统一数据契约 → Spark 清洗/TF-IDF/相似度 → MongoDB 存储 → Flask API → Web 个性化展示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先用两源各 100 条打通全链路，验证后再扩展到不少于 10,000 条有效文档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运行路径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主路径：真实 Spark 集群 + MongoDB + 本机 Flask/Web，保留 master、DAG、日志等运行证据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备用路径：教师同意后使用 Spark local降级，数据契约与结果格式保持一致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MongoDB 最小集合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documents、mining_results、user_profiles、user_knowledge 四个集合，核心字段建唯一索引与查询索引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2" name="矩形 61"/>
          <p:cNvSpPr/>
          <p:nvPr/>
        </p:nvSpPr>
        <p:spPr>
          <a:xfrm>
            <a:off x="5781090" y="8399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实施方案：三周计划与风险闸门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463" name="矩形 62"/>
          <p:cNvSpPr/>
          <p:nvPr/>
        </p:nvSpPr>
        <p:spPr>
          <a:xfrm>
            <a:off x="5749975" y="1133034"/>
            <a:ext cx="12611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Implementation Plan · Timeline &amp; Gates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402" name="文本框 1"/>
          <p:cNvSpPr txBox="1"/>
          <p:nvPr/>
        </p:nvSpPr>
        <p:spPr>
          <a:xfrm>
            <a:off x="1160145" y="1716405"/>
            <a:ext cx="9871710" cy="376618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第 1 周｜确认条件与数据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核验 Spark/MongoDB 环境，采集两源各 100 条样本，确定统一 schema 与规模估算，完成选题确认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第 2 周｜最小切片与万条扩展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贯通 Spark→MongoDB→API→Web 垂直切片，扩大采集至不少于 10,000 条，完成推荐评价与基线对比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第 3 周｜评价、证据与演示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复跑完整 Spark 作业，完成稳定性测试，整理规约、提示词与报告，录制汇报演示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关键决策闸门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第 2 天环境可用性、第 3 天数据合规、第 5 天选题确认、第 10 天规模与范围，均设有失败替代方案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778528" y="2080137"/>
            <a:ext cx="2634940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02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319076" y="3236214"/>
            <a:ext cx="15544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分工表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This shows the work‑division arrangement for team members</a:t>
            </a:r>
            <a:endParaRPr lang="en-US" altLang="zh-CN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>
            <p:custDataLst>
              <p:tags r:id="rId1"/>
            </p:custDataLst>
          </p:nvPr>
        </p:nvGrpSpPr>
        <p:grpSpPr>
          <a:xfrm>
            <a:off x="1503866" y="1615628"/>
            <a:ext cx="9097010" cy="4150056"/>
            <a:chOff x="1094658" y="1525958"/>
            <a:chExt cx="10020208" cy="4571218"/>
          </a:xfrm>
        </p:grpSpPr>
        <p:sp>
          <p:nvSpPr>
            <p:cNvPr id="18" name="Freeform 10"/>
            <p:cNvSpPr/>
            <p:nvPr>
              <p:custDataLst>
                <p:tags r:id="rId2"/>
              </p:custDataLst>
            </p:nvPr>
          </p:nvSpPr>
          <p:spPr bwMode="auto">
            <a:xfrm>
              <a:off x="1094658" y="1525958"/>
              <a:ext cx="10020208" cy="4070053"/>
            </a:xfrm>
            <a:custGeom>
              <a:avLst/>
              <a:gdLst>
                <a:gd name="T0" fmla="*/ 488 w 488"/>
                <a:gd name="T1" fmla="*/ 477 h 488"/>
                <a:gd name="T2" fmla="*/ 477 w 488"/>
                <a:gd name="T3" fmla="*/ 488 h 488"/>
                <a:gd name="T4" fmla="*/ 11 w 488"/>
                <a:gd name="T5" fmla="*/ 488 h 488"/>
                <a:gd name="T6" fmla="*/ 0 w 488"/>
                <a:gd name="T7" fmla="*/ 477 h 488"/>
                <a:gd name="T8" fmla="*/ 0 w 488"/>
                <a:gd name="T9" fmla="*/ 11 h 488"/>
                <a:gd name="T10" fmla="*/ 11 w 488"/>
                <a:gd name="T11" fmla="*/ 0 h 488"/>
                <a:gd name="T12" fmla="*/ 477 w 488"/>
                <a:gd name="T13" fmla="*/ 0 h 488"/>
                <a:gd name="T14" fmla="*/ 488 w 488"/>
                <a:gd name="T15" fmla="*/ 11 h 488"/>
                <a:gd name="T16" fmla="*/ 488 w 488"/>
                <a:gd name="T17" fmla="*/ 477 h 4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88" h="488">
                  <a:moveTo>
                    <a:pt x="488" y="477"/>
                  </a:moveTo>
                  <a:cubicBezTo>
                    <a:pt x="488" y="483"/>
                    <a:pt x="483" y="488"/>
                    <a:pt x="477" y="488"/>
                  </a:cubicBezTo>
                  <a:cubicBezTo>
                    <a:pt x="11" y="488"/>
                    <a:pt x="11" y="488"/>
                    <a:pt x="11" y="488"/>
                  </a:cubicBezTo>
                  <a:cubicBezTo>
                    <a:pt x="5" y="488"/>
                    <a:pt x="0" y="483"/>
                    <a:pt x="0" y="477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77" y="0"/>
                    <a:pt x="477" y="0"/>
                    <a:pt x="477" y="0"/>
                  </a:cubicBezTo>
                  <a:cubicBezTo>
                    <a:pt x="483" y="0"/>
                    <a:pt x="488" y="5"/>
                    <a:pt x="488" y="11"/>
                  </a:cubicBezTo>
                  <a:lnTo>
                    <a:pt x="488" y="477"/>
                  </a:lnTo>
                  <a:close/>
                </a:path>
              </a:pathLst>
            </a:custGeom>
            <a:solidFill>
              <a:srgbClr val="68A5A2"/>
            </a:solidFill>
            <a:ln>
              <a:noFill/>
            </a:ln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25" name="Freeform 17"/>
            <p:cNvSpPr/>
            <p:nvPr>
              <p:custDataLst>
                <p:tags r:id="rId3"/>
              </p:custDataLst>
            </p:nvPr>
          </p:nvSpPr>
          <p:spPr bwMode="auto">
            <a:xfrm>
              <a:off x="6916367" y="5595254"/>
              <a:ext cx="497353" cy="501922"/>
            </a:xfrm>
            <a:custGeom>
              <a:avLst/>
              <a:gdLst>
                <a:gd name="T0" fmla="*/ 117 w 117"/>
                <a:gd name="T1" fmla="*/ 106 h 118"/>
                <a:gd name="T2" fmla="*/ 106 w 117"/>
                <a:gd name="T3" fmla="*/ 118 h 118"/>
                <a:gd name="T4" fmla="*/ 11 w 117"/>
                <a:gd name="T5" fmla="*/ 118 h 118"/>
                <a:gd name="T6" fmla="*/ 0 w 117"/>
                <a:gd name="T7" fmla="*/ 106 h 118"/>
                <a:gd name="T8" fmla="*/ 0 w 117"/>
                <a:gd name="T9" fmla="*/ 12 h 118"/>
                <a:gd name="T10" fmla="*/ 11 w 117"/>
                <a:gd name="T11" fmla="*/ 0 h 118"/>
                <a:gd name="T12" fmla="*/ 106 w 117"/>
                <a:gd name="T13" fmla="*/ 0 h 118"/>
                <a:gd name="T14" fmla="*/ 117 w 117"/>
                <a:gd name="T15" fmla="*/ 12 h 118"/>
                <a:gd name="T16" fmla="*/ 117 w 117"/>
                <a:gd name="T17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7" h="118">
                  <a:moveTo>
                    <a:pt x="117" y="106"/>
                  </a:moveTo>
                  <a:cubicBezTo>
                    <a:pt x="117" y="113"/>
                    <a:pt x="112" y="118"/>
                    <a:pt x="106" y="118"/>
                  </a:cubicBezTo>
                  <a:cubicBezTo>
                    <a:pt x="11" y="118"/>
                    <a:pt x="11" y="118"/>
                    <a:pt x="11" y="118"/>
                  </a:cubicBezTo>
                  <a:cubicBezTo>
                    <a:pt x="5" y="118"/>
                    <a:pt x="0" y="113"/>
                    <a:pt x="0" y="106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06" y="0"/>
                    <a:pt x="106" y="0"/>
                    <a:pt x="106" y="0"/>
                  </a:cubicBezTo>
                  <a:cubicBezTo>
                    <a:pt x="112" y="0"/>
                    <a:pt x="117" y="5"/>
                    <a:pt x="117" y="12"/>
                  </a:cubicBezTo>
                  <a:lnTo>
                    <a:pt x="117" y="10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lIns="121926" tIns="60963" rIns="121926" bIns="60963"/>
            <a:lstStyle/>
            <a:p>
              <a:endParaRPr lang="zh-CN" altLang="en-US" sz="140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  <p:sp>
          <p:nvSpPr>
            <p:cNvPr id="33" name="Rectangle 25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1328971" y="1954716"/>
              <a:ext cx="9551582" cy="33957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noAutofit/>
            </a:bodyPr>
            <a:lstStyle/>
            <a:p>
              <a:pPr algn="ctr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 分工表内容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  <a:p>
              <a:pPr algn="l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成员 ｜ 负责层次 / 模块 ｜ 具体工作内容 ｜ 占比自评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  <a:p>
              <a:pPr algn="l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陶文杰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｜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数据源与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Spark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层、挖掘与评价层｜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Stack Exchange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数据采集、数据清洗去重、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TF‑IDF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与关键词处理；实现相似度计算、结果排序、基线对比与指标评测，输出数据统计、测试样例｜50%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  <a:p>
              <a:pPr algn="l">
                <a:lnSpc>
                  <a:spcPct val="120000"/>
                </a:lnSpc>
                <a:buFont typeface="Arial" panose="020B0604020202020204" pitchFamily="34" charset="0"/>
                <a:buNone/>
              </a:pP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陈铭宇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｜MongoDB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与业务层、用户与交互层｜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MongoDB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集合设计、索引构建、幂等写入，开发业务</a:t>
              </a:r>
              <a:r>
                <a:rPr lang="en-US" altLang="zh-CN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API；</a:t>
              </a:r>
              <a:r>
                <a:rPr lang="zh-CN" altLang="en-US" dirty="0">
                  <a:solidFill>
                    <a:schemeClr val="bg1"/>
                  </a:solidFill>
                  <a:latin typeface="Times New Roman" panose="02020603050405020304"/>
                  <a:ea typeface="方正清刻本悦宋简体" panose="02000000000000000000" charset="-122"/>
                  <a:sym typeface="Times New Roman" panose="02020603050405020304"/>
                </a:rPr>
                <a:t>完成用户知识画像、推荐页面开发，整合规约与项目演示｜50%</a:t>
              </a:r>
              <a:endParaRPr lang="zh-CN" altLang="en-US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 flipH="1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椭圆 9"/>
          <p:cNvSpPr/>
          <p:nvPr/>
        </p:nvSpPr>
        <p:spPr>
          <a:xfrm>
            <a:off x="3839026" y="1152978"/>
            <a:ext cx="4513944" cy="4513944"/>
          </a:xfrm>
          <a:prstGeom prst="ellipse">
            <a:avLst/>
          </a:prstGeom>
          <a:solidFill>
            <a:srgbClr val="68A5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1" name="椭圆 20"/>
          <p:cNvSpPr/>
          <p:nvPr/>
        </p:nvSpPr>
        <p:spPr>
          <a:xfrm>
            <a:off x="4662213" y="2100324"/>
            <a:ext cx="2770511" cy="762389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500" dirty="0" smtClean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03</a:t>
            </a:r>
            <a:endParaRPr lang="zh-CN" altLang="en-US" sz="115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90476" y="3236214"/>
            <a:ext cx="20116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3600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数据来源</a:t>
            </a:r>
            <a:endParaRPr lang="zh-CN" altLang="en-US" sz="3600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151084" y="4003440"/>
            <a:ext cx="3889829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This describes the data sources adopted in our system</a:t>
            </a:r>
            <a:endParaRPr lang="en-US" altLang="zh-CN" dirty="0">
              <a:solidFill>
                <a:schemeClr val="bg1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5646054" y="3973405"/>
            <a:ext cx="89988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矩形 61"/>
          <p:cNvSpPr/>
          <p:nvPr/>
        </p:nvSpPr>
        <p:spPr>
          <a:xfrm>
            <a:off x="5781090" y="839966"/>
            <a:ext cx="1198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数据来源</a:t>
            </a:r>
            <a:endParaRPr lang="zh-CN" altLang="en-US" sz="20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5749975" y="1133034"/>
            <a:ext cx="1261110" cy="5835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Sources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zh-CN" altLang="en-US" sz="1600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00" y="1489710"/>
            <a:ext cx="9871710" cy="376618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主数据源：Stack Exchange 技术问答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来源：Stack Overflow、Server Fault、Super User、Ask Ubuntu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规模：清洗后有效入库文档 ≥ 10,000 条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获取：官方 Data Dump 或 API 分页采集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许可：CC BY-SA 系列，逐条记录版权信息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补充数据源：arXiv Computer Science 元数据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来源：arXiv Atom API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用途：学术异构补充，关联工程问题与学术研究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规模：不计入一万条基线规模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  <a:p>
            <a:pPr algn="l">
              <a:lnSpc>
                <a:spcPct val="120000"/>
              </a:lnSpc>
              <a:buClrTx/>
              <a:buSzTx/>
              <a:buFont typeface="Arial" panose="020B0604020202020204"/>
              <a:buChar char="•"/>
            </a:pPr>
            <a:r>
              <a:rPr lang="zh-CN" altLang="en-US" sz="2000" dirty="0">
                <a:solidFill>
                  <a:schemeClr val="tx1"/>
                </a:solidFill>
                <a:latin typeface="Times New Roman" panose="02020603050405020304"/>
                <a:ea typeface="方正清刻本悦宋简体" panose="02000000000000000000" charset="-122"/>
              </a:rPr>
              <a:t>许可：元数据 CC0，论文全文许可单独区分</a:t>
            </a:r>
            <a:endParaRPr lang="zh-CN" altLang="en-US" sz="2000" dirty="0">
              <a:solidFill>
                <a:schemeClr val="tx1"/>
              </a:solidFill>
              <a:latin typeface="Times New Roman" panose="02020603050405020304"/>
              <a:ea typeface="方正清刻本悦宋简体" panose="02000000000000000000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Administrator\Desktop\新品上市.p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66999" y="-2667000"/>
            <a:ext cx="6857999" cy="1219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/>
          <p:cNvSpPr/>
          <p:nvPr/>
        </p:nvSpPr>
        <p:spPr>
          <a:xfrm>
            <a:off x="2194559" y="2088212"/>
            <a:ext cx="7802880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dirty="0" smtClean="0">
                <a:solidFill>
                  <a:srgbClr val="68A5A2"/>
                </a:solidFill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感谢老师的聆听与指导</a:t>
            </a:r>
            <a:endParaRPr lang="zh-CN" altLang="en-US" sz="6000" dirty="0" smtClean="0">
              <a:solidFill>
                <a:srgbClr val="68A5A2"/>
              </a:solidFill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94835" y="2997200"/>
            <a:ext cx="4880610" cy="3683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This is the end of our presentation.</a:t>
            </a:r>
            <a:endParaRPr lang="en-US" altLang="zh-CN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  <p:cxnSp>
        <p:nvCxnSpPr>
          <p:cNvPr id="7" name="直接连接符 6"/>
          <p:cNvCxnSpPr/>
          <p:nvPr/>
        </p:nvCxnSpPr>
        <p:spPr>
          <a:xfrm>
            <a:off x="5646053" y="3462710"/>
            <a:ext cx="899888" cy="0"/>
          </a:xfrm>
          <a:prstGeom prst="line">
            <a:avLst/>
          </a:prstGeom>
          <a:ln w="28575">
            <a:solidFill>
              <a:srgbClr val="68A5A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1944910" y="3559628"/>
            <a:ext cx="8302171" cy="922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Project on Knowledge Mining and Personalized Discovery </a:t>
            </a:r>
            <a:endParaRPr lang="en-US" altLang="zh-CN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  <a:p>
            <a:pPr algn="ctr">
              <a:lnSpc>
                <a:spcPct val="150000"/>
              </a:lnSpc>
            </a:pPr>
            <a:r>
              <a:rPr lang="en-US" altLang="zh-CN" dirty="0">
                <a:latin typeface="Times New Roman" panose="02020603050405020304"/>
                <a:ea typeface="方正清刻本悦宋简体" panose="02000000000000000000" charset="-122"/>
                <a:sym typeface="Times New Roman" panose="02020603050405020304"/>
              </a:rPr>
              <a:t>of Multi-source Technical Content</a:t>
            </a:r>
            <a:endParaRPr lang="en-US" altLang="zh-CN" dirty="0">
              <a:latin typeface="Times New Roman" panose="02020603050405020304"/>
              <a:ea typeface="方正清刻本悦宋简体" panose="02000000000000000000" charset="-122"/>
              <a:sym typeface="Times New Roman" panose="020206030504050203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2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3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4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5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6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7.xml><?xml version="1.0" encoding="utf-8"?>
<p:tagLst xmlns:p="http://schemas.openxmlformats.org/presentationml/2006/main">
  <p:tag name="KSO_WM_DIAGRAM_VIRTUALLY_FRAME" val="{&quot;height&quot;:211.1731496062992,&quot;left&quot;:287.0968503937008,&quot;top&quot;:158.01543307086612,&quot;width&quot;:515.1059842519685}"/>
</p:tagLst>
</file>

<file path=ppt/tags/tag8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9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0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1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2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3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4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5.xml><?xml version="1.0" encoding="utf-8"?>
<p:tagLst xmlns:p="http://schemas.openxmlformats.org/presentationml/2006/main">
  <p:tag name="KSO_WM_DIAGRAM_VIRTUALLY_FRAME" val="{&quot;height&quot;:228.63811023622048,&quot;left&quot;:343.8592913385827,&quot;top&quot;:200.72590551181102,&quot;width&quot;:221.34275590551184}"/>
</p:tagLst>
</file>

<file path=ppt/tags/tag16.xml><?xml version="1.0" encoding="utf-8"?>
<p:tagLst xmlns:p="http://schemas.openxmlformats.org/presentationml/2006/main">
  <p:tag name="KSO_WM_DIAGRAM_VIRTUALLY_FRAME" val="{&quot;height&quot;:464.0260269391647,&quot;left&quot;:76.62370078740157,&quot;top&quot;:146.8148031496063,&quot;width&quot;:798.5158267716536}"/>
</p:tagLst>
</file>

<file path=ppt/tags/tag17.xml><?xml version="1.0" encoding="utf-8"?>
<p:tagLst xmlns:p="http://schemas.openxmlformats.org/presentationml/2006/main">
  <p:tag name="KSO_WM_DIAGRAM_VIRTUALLY_FRAME" val="{&quot;height&quot;:464.0260269391647,&quot;left&quot;:76.62370078740157,&quot;top&quot;:146.8148031496063,&quot;width&quot;:798.5158267716536}"/>
</p:tagLst>
</file>

<file path=ppt/tags/tag18.xml><?xml version="1.0" encoding="utf-8"?>
<p:tagLst xmlns:p="http://schemas.openxmlformats.org/presentationml/2006/main">
  <p:tag name="KSO_WM_DIAGRAM_VIRTUALLY_FRAME" val="{&quot;height&quot;:464.0260269391647,&quot;left&quot;:76.62370078740157,&quot;top&quot;:146.8148031496063,&quot;width&quot;:798.5158267716536}"/>
</p:tagLst>
</file>

<file path=ppt/tags/tag19.xml><?xml version="1.0" encoding="utf-8"?>
<p:tagLst xmlns:p="http://schemas.openxmlformats.org/presentationml/2006/main">
  <p:tag name="KSO_WM_DIAGRAM_VIRTUALLY_FRAME" val="{&quot;height&quot;:464.0260269391647,&quot;left&quot;:76.62370078740157,&quot;top&quot;:146.8148031496063,&quot;width&quot;:798.5158267716536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2682</Words>
  <Application>WPS 演示</Application>
  <PresentationFormat>自定义</PresentationFormat>
  <Paragraphs>188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Times New Roman</vt:lpstr>
      <vt:lpstr>方正清刻本悦宋简体</vt:lpstr>
      <vt:lpstr>微软雅黑</vt:lpstr>
      <vt:lpstr>Times New Roman</vt:lpstr>
      <vt:lpstr>Arial</vt:lpstr>
      <vt:lpstr>Calibri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WPS_1674731652</cp:lastModifiedBy>
  <cp:revision>56</cp:revision>
  <dcterms:created xsi:type="dcterms:W3CDTF">2019-09-25T04:55:00Z</dcterms:created>
  <dcterms:modified xsi:type="dcterms:W3CDTF">2026-09-04T01:17:59Z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KSOTemplateUUID">
    <vt:lpwstr>v1.0_mb_FygSN3yqrAQe7JZRz3XIUQ==</vt:lpwstr>
  </property>
  <property fmtid="{D5CDD505-2E9C-101B-9397-08002B2CF9AE}" pid="4" name="ICV">
    <vt:lpwstr>2B5D0FD1EA6540A6B89F6215680D0FF9_11</vt:lpwstr>
  </property>
</Properties>
</file>