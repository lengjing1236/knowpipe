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本项目面向有基础的计算机学生，按明确目标组织多源全文。今天展示真实可操作流程，同时报告推荐质量仍存在的缺口。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不是让系统判断学生已经掌握什么。用户主动保存目标和标记已读，系统据此重新处理；打开页面或读通知都不自动当作学会。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四层按职责划分，不声称四套微服务或多主机部署。Spark做索引、召回、聚合和选择，Mongo保存事实，模型提供有界语义特征。增加Spark节点只能改变容量和吞吐，不能自动修复错误判断。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完整背景10167篇来自Stack Exchange，48篇来自四类官方文档。规模符合课程实践方向，但来源分布不均。当前12篇原生中文全文只是演示集合，并非万条都已译成中文。arXiv是历史采集能力，不在这个10215背景清单中。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先用Spark词汇召回，再用有界语义特征判断相关性及上下文。覆盖、补充和列表重复实际进入Spark选择。模型分数不是事实标签；无法比较时显示不确定，不能把中性预测等同新知识。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012实际应用截图，推荐来自生产worker与Spark。真实目标、推荐、阅读、主动已读与重算已走通。首轮存在偏题，重算语义partial，不能当质量通过。录制前预处理和等待压缩明示，不把缓存结果说成即时万条重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左侧为真实中文全文，右侧为主动已读记录和重算。已读数为1、修订号2的任务ready，已读Django事务材料被排除；语义状态partial。打开内容不会自动增加已读。工程闭环成功不代表学习效果已经证明。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使用AWS Morning Brief真实完整RSS条目和公开音频，ASR产生2961字符并实际入选。整个任务2013.8秒包括其他资料翻译，不是ASR耗时。播客中文未就绪，没有通知；冷启动入选不证明个人补充，也没有独立逐字金标。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17个冻结场景中13个使用10215背景，4个受控。35个返回项逐条读原文，由代理审核，不是独立人类学习实验。13直接、13部分、9无关，即使宽松合并也低于80%。还发现11条错误补充、12条依据不足，核心质量未过。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c-Kit先写规格与预期，再任务化并行开发。Git保留真实提交，不改写时间。提示词只导出可访问真实记录，注明范围。用户已确认最终分工：陶文杰负责数据算法，陈铭宇负责业务交互材料，各50%，与初版无调整；比例来自成员确认，不从AI代理工作量推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步提高正文和目标的直接相关性；第二步只在双方证据充分时说可能补充；第三步用用户要求的免费远程模型验证中文关键事实，并完成真实闭环。之后才做完整基线和扩大部署。当前12篇演示可展示系统，011仍保留未通过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37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96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07268"/>
                </a:solidFill>
                <a:latin typeface="Microsoft YaHei"/>
              </a:defRPr>
            </a:pPr>
            <a:r>
              <a:t>KNOWPIPE  /  课程项目汇报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6280"/>
            <a:ext cx="11163300" cy="807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9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3F32"/>
                </a:solidFill>
                <a:latin typeface="Microsoft YaHei"/>
              </a:defRPr>
            </a:pPr>
            <a:r>
              <a:t>Knowpipe：从技术资料中找到下一步阅读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47800"/>
            <a:ext cx="11125200" cy="15240"/>
          </a:xfrm>
          <a:prstGeom prst="rect">
            <a:avLst/>
          </a:prstGeom>
          <a:solidFill>
            <a:srgbClr val="C9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16040"/>
            <a:ext cx="10668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63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7268"/>
                </a:solidFill>
                <a:latin typeface="Microsoft YaHei"/>
              </a:defRPr>
            </a:pPr>
            <a:r>
              <a:t>单机 Spark · 实际网页与数据 · 演示运行和推荐质量分别验收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416040"/>
            <a:ext cx="685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9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37652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107442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58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83F32"/>
                </a:solidFill>
                <a:latin typeface="Microsoft YaHei"/>
              </a:defRPr>
            </a:pPr>
            <a:r>
              <a:t>基于 Spark 与 MongoDB 的多源技术资料分析与个性化推荐 Web 系统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49880"/>
            <a:ext cx="3474720" cy="1844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849880"/>
            <a:ext cx="53340" cy="1844040"/>
          </a:xfrm>
          <a:prstGeom prst="rect">
            <a:avLst/>
          </a:prstGeom>
          <a:solidFill>
            <a:srgbClr val="237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6760" y="3017520"/>
            <a:ext cx="310896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7652"/>
                </a:solidFill>
                <a:latin typeface="Microsoft YaHei"/>
              </a:defRPr>
            </a:pPr>
            <a:r>
              <a:t>12 篇中文全文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6760" y="3634740"/>
            <a:ext cx="3108960" cy="944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本次实际网页演示</a:t>
            </a:r>
          </a:p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Python 7篇 + Django 5篇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849880"/>
            <a:ext cx="3474720" cy="1844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2849880"/>
            <a:ext cx="53340" cy="1844040"/>
          </a:xfrm>
          <a:prstGeom prst="rect">
            <a:avLst/>
          </a:prstGeom>
          <a:solidFill>
            <a:srgbClr val="237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1520" y="3017520"/>
            <a:ext cx="310896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7652"/>
                </a:solidFill>
                <a:latin typeface="Microsoft YaHei"/>
              </a:defRPr>
            </a:pPr>
            <a:r>
              <a:t>10,215 篇背景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1520" y="3634740"/>
            <a:ext cx="3108960" cy="944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独立的规模与质量验证</a:t>
            </a:r>
          </a:p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真实语料，不与演示混淆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849880"/>
            <a:ext cx="3474720" cy="1844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2849880"/>
            <a:ext cx="53340" cy="1844040"/>
          </a:xfrm>
          <a:prstGeom prst="rect">
            <a:avLst/>
          </a:prstGeom>
          <a:solidFill>
            <a:srgbClr val="237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6280" y="3017520"/>
            <a:ext cx="310896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7652"/>
                </a:solidFill>
                <a:latin typeface="Microsoft YaHei"/>
              </a:defRPr>
            </a:pPr>
            <a:r>
              <a:t>一个核心问题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6280" y="3634740"/>
            <a:ext cx="3108960" cy="944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已读之后，下一篇资料</a:t>
            </a:r>
          </a:p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能否直接帮助当前目标？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5204460"/>
            <a:ext cx="10668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607268"/>
                </a:solidFill>
                <a:latin typeface="Microsoft YaHei"/>
              </a:defRPr>
            </a:pPr>
            <a:r>
              <a:t>陶文杰 / 陈铭宇   ·   2026-09-25   ·   当前部署：单台电脑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5791200"/>
            <a:ext cx="106680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A55E30"/>
                </a:solidFill>
                <a:latin typeface="Microsoft YaHei"/>
              </a:defRPr>
            </a:pPr>
            <a:r>
              <a:t>工程流程可以演示；011核心推荐质量尚未通过。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37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96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07268"/>
                </a:solidFill>
                <a:latin typeface="Microsoft YaHei"/>
              </a:defRPr>
            </a:pPr>
            <a:r>
              <a:t>KNOWPIPE  /  课程项目汇报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6280"/>
            <a:ext cx="11163300" cy="807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9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3F32"/>
                </a:solidFill>
                <a:latin typeface="Microsoft YaHei"/>
              </a:defRPr>
            </a:pPr>
            <a:r>
              <a:t>用户流程：目标 → 材料 → 阅读 → 再推荐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47800"/>
            <a:ext cx="11125200" cy="15240"/>
          </a:xfrm>
          <a:prstGeom prst="rect">
            <a:avLst/>
          </a:prstGeom>
          <a:solidFill>
            <a:srgbClr val="C9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16040"/>
            <a:ext cx="10668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63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7268"/>
                </a:solidFill>
                <a:latin typeface="Microsoft YaHei"/>
              </a:defRPr>
            </a:pPr>
            <a:r>
              <a:t>单机 Spark · 实际网页与数据 · 演示运行和推荐质量分别验收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416040"/>
            <a:ext cx="685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9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37652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98320"/>
            <a:ext cx="3444240" cy="1722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98320"/>
            <a:ext cx="53340" cy="1722120"/>
          </a:xfrm>
          <a:prstGeom prst="rect">
            <a:avLst/>
          </a:prstGeom>
          <a:solidFill>
            <a:srgbClr val="237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6760" y="1965960"/>
            <a:ext cx="30784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7652"/>
                </a:solidFill>
                <a:latin typeface="Microsoft YaHei"/>
              </a:defRPr>
            </a:pPr>
            <a:r>
              <a:t>01  输入中文目标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760" y="2583180"/>
            <a:ext cx="307848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围绕具体技术问题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8160" y="1798320"/>
            <a:ext cx="3444240" cy="1722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8160" y="1798320"/>
            <a:ext cx="53340" cy="1722120"/>
          </a:xfrm>
          <a:prstGeom prst="rect">
            <a:avLst/>
          </a:prstGeom>
          <a:solidFill>
            <a:srgbClr val="237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965960"/>
            <a:ext cx="30784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7652"/>
                </a:solidFill>
                <a:latin typeface="Microsoft YaHei"/>
              </a:defRPr>
            </a:pPr>
            <a:r>
              <a:t>02  查找多源全文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583180"/>
            <a:ext cx="307848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先判断正文是否相关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7680" y="1798320"/>
            <a:ext cx="3444240" cy="1722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07680" y="1798320"/>
            <a:ext cx="53340" cy="1722120"/>
          </a:xfrm>
          <a:prstGeom prst="rect">
            <a:avLst/>
          </a:prstGeom>
          <a:solidFill>
            <a:srgbClr val="237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5800" y="1965960"/>
            <a:ext cx="30784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7652"/>
                </a:solidFill>
                <a:latin typeface="Microsoft YaHei"/>
              </a:defRPr>
            </a:pPr>
            <a:r>
              <a:t>03  给出原文依据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5800" y="2583180"/>
            <a:ext cx="307848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展示重合/可能补充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825240"/>
            <a:ext cx="3444240" cy="1722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825240"/>
            <a:ext cx="53340" cy="1722120"/>
          </a:xfrm>
          <a:prstGeom prst="rect">
            <a:avLst/>
          </a:prstGeom>
          <a:solidFill>
            <a:srgbClr val="237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6760" y="3992879"/>
            <a:ext cx="30784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7652"/>
                </a:solidFill>
                <a:latin typeface="Microsoft YaHei"/>
              </a:defRPr>
            </a:pPr>
            <a:r>
              <a:t>04  阅读中文全文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6760" y="4610100"/>
            <a:ext cx="307848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保留来源和处理状态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28160" y="3825240"/>
            <a:ext cx="3444240" cy="1722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28160" y="3825240"/>
            <a:ext cx="53340" cy="1722120"/>
          </a:xfrm>
          <a:prstGeom prst="rect">
            <a:avLst/>
          </a:prstGeom>
          <a:solidFill>
            <a:srgbClr val="237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3992879"/>
            <a:ext cx="30784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7652"/>
                </a:solidFill>
                <a:latin typeface="Microsoft YaHei"/>
              </a:defRPr>
            </a:pPr>
            <a:r>
              <a:t>05  主动标记已读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4610100"/>
            <a:ext cx="307848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记录本次正文版本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07680" y="3825240"/>
            <a:ext cx="3444240" cy="1722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07680" y="3825240"/>
            <a:ext cx="53340" cy="1722120"/>
          </a:xfrm>
          <a:prstGeom prst="rect">
            <a:avLst/>
          </a:prstGeom>
          <a:solidFill>
            <a:srgbClr val="237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05800" y="3992879"/>
            <a:ext cx="30784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7652"/>
                </a:solidFill>
                <a:latin typeface="Microsoft YaHei"/>
              </a:defRPr>
            </a:pPr>
            <a:r>
              <a:t>06  再次计算推荐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5800" y="4610100"/>
            <a:ext cx="307848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历史确实进入处理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600" y="5989320"/>
            <a:ext cx="10668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A55E30"/>
                </a:solidFill>
                <a:latin typeface="Microsoft YaHei"/>
              </a:defRPr>
            </a:pPr>
            <a:r>
              <a:t>已读 ≠ 掌握；不同来源 ≠ 必然有新知识。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37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96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07268"/>
                </a:solidFill>
                <a:latin typeface="Microsoft YaHei"/>
              </a:defRPr>
            </a:pPr>
            <a:r>
              <a:t>KNOWPIPE  /  课程项目汇报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6280"/>
            <a:ext cx="11163300" cy="807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9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3F32"/>
                </a:solidFill>
                <a:latin typeface="Microsoft YaHei"/>
              </a:defRPr>
            </a:pPr>
            <a:r>
              <a:t>四层架构：Spark真实参与，长任务交给worker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47800"/>
            <a:ext cx="11125200" cy="15240"/>
          </a:xfrm>
          <a:prstGeom prst="rect">
            <a:avLst/>
          </a:prstGeom>
          <a:solidFill>
            <a:srgbClr val="C9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16040"/>
            <a:ext cx="10668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63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7268"/>
                </a:solidFill>
                <a:latin typeface="Microsoft YaHei"/>
              </a:defRPr>
            </a:pPr>
            <a:r>
              <a:t>单机 Spark · 实际网页与数据 · 演示运行和推荐质量分别验收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416040"/>
            <a:ext cx="685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9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37652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3880" y="1752600"/>
            <a:ext cx="7559040" cy="868680"/>
          </a:xfrm>
          <a:prstGeom prst="roundRect">
            <a:avLst/>
          </a:prstGeom>
          <a:solidFill>
            <a:srgbClr val="DEE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6760" y="1882139"/>
            <a:ext cx="7010400" cy="3124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7652"/>
                </a:solidFill>
                <a:latin typeface="Microsoft YaHei"/>
              </a:defRPr>
            </a:pPr>
            <a:r>
              <a:t>Web交互层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6760" y="2240280"/>
            <a:ext cx="7010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F32"/>
                </a:solidFill>
                <a:latin typeface="Microsoft YaHei"/>
              </a:defRPr>
            </a:pPr>
            <a:r>
              <a:t>中文目标 · 推荐列表 · 全文阅读 · 主动已读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3880" y="2804160"/>
            <a:ext cx="755904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6760" y="2933700"/>
            <a:ext cx="7010400" cy="3124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7652"/>
                </a:solidFill>
                <a:latin typeface="Microsoft YaHei"/>
              </a:defRPr>
            </a:pPr>
            <a:r>
              <a:t>业务层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6760" y="3291840"/>
            <a:ext cx="7010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F32"/>
                </a:solidFill>
                <a:latin typeface="Microsoft YaHei"/>
              </a:defRPr>
            </a:pPr>
            <a:r>
              <a:t>Flask鉴权 · 任务队列 · worker租约 · 翻译/通知门控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3880" y="3855720"/>
            <a:ext cx="7559040" cy="868680"/>
          </a:xfrm>
          <a:prstGeom prst="roundRect">
            <a:avLst/>
          </a:prstGeom>
          <a:solidFill>
            <a:srgbClr val="DEE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6760" y="3985260"/>
            <a:ext cx="7010400" cy="3124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7652"/>
                </a:solidFill>
                <a:latin typeface="Microsoft YaHei"/>
              </a:defRPr>
            </a:pPr>
            <a:r>
              <a:t>数据管理与挖掘层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6760" y="4343400"/>
            <a:ext cx="7010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F32"/>
                </a:solidFill>
                <a:latin typeface="Microsoft YaHei"/>
              </a:defRPr>
            </a:pPr>
            <a:r>
              <a:t>MongoDB原文/版本/历史 · 有界语义特征 · 选择规则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3880" y="4907280"/>
            <a:ext cx="755904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6760" y="5036820"/>
            <a:ext cx="7010400" cy="3124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7652"/>
                </a:solidFill>
                <a:latin typeface="Microsoft YaHei"/>
              </a:defRPr>
            </a:pPr>
            <a:r>
              <a:t>Spark处理层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6760" y="5394960"/>
            <a:ext cx="7010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F32"/>
                </a:solidFill>
                <a:latin typeface="Microsoft YaHei"/>
              </a:defRPr>
            </a:pPr>
            <a:r>
              <a:t>全文索引 · 全库召回 · 特征聚合 · 覆盖/补充/去重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1767840"/>
            <a:ext cx="315468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12480" y="1767840"/>
            <a:ext cx="53340" cy="1965960"/>
          </a:xfrm>
          <a:prstGeom prst="rect">
            <a:avLst/>
          </a:prstGeom>
          <a:solidFill>
            <a:srgbClr val="237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10600" y="1935480"/>
            <a:ext cx="27889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7652"/>
                </a:solidFill>
                <a:latin typeface="Microsoft YaHei"/>
              </a:defRPr>
            </a:pPr>
            <a:r>
              <a:t>本次：单机 Spark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10600" y="2552700"/>
            <a:ext cx="2788920" cy="1066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local模式真实执行</a:t>
            </a:r>
          </a:p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不是跨主机集群</a:t>
            </a:r>
          </a:p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Web不在HTTP内重算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0" y="3977639"/>
            <a:ext cx="315468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12480" y="3977639"/>
            <a:ext cx="53340" cy="1965960"/>
          </a:xfrm>
          <a:prstGeom prst="rect">
            <a:avLst/>
          </a:prstGeom>
          <a:solidFill>
            <a:srgbClr val="A55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10600" y="4145280"/>
            <a:ext cx="27889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A55E30"/>
                </a:solidFill>
                <a:latin typeface="Microsoft YaHei"/>
              </a:defRPr>
            </a:pPr>
            <a:r>
              <a:t>先正确，再扩容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10600" y="4762500"/>
            <a:ext cx="2788920" cy="1066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扩容可改善容量/吞吐</a:t>
            </a:r>
          </a:p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不会自动提高相关性</a:t>
            </a:r>
          </a:p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也不能修复翻译含义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37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96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07268"/>
                </a:solidFill>
                <a:latin typeface="Microsoft YaHei"/>
              </a:defRPr>
            </a:pPr>
            <a:r>
              <a:t>KNOWPIPE  /  课程项目汇报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6280"/>
            <a:ext cx="11163300" cy="807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9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3F32"/>
                </a:solidFill>
                <a:latin typeface="Microsoft YaHei"/>
              </a:defRPr>
            </a:pPr>
            <a:r>
              <a:t>多源数据：规模证据和演示数据分别说明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47800"/>
            <a:ext cx="11125200" cy="15240"/>
          </a:xfrm>
          <a:prstGeom prst="rect">
            <a:avLst/>
          </a:prstGeom>
          <a:solidFill>
            <a:srgbClr val="C9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16040"/>
            <a:ext cx="10668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63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7268"/>
                </a:solidFill>
                <a:latin typeface="Microsoft YaHei"/>
              </a:defRPr>
            </a:pPr>
            <a:r>
              <a:t>单机 Spark · 实际网页与数据 · 演示运行和推荐质量分别验收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416040"/>
            <a:ext cx="685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9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37652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1790700"/>
            <a:ext cx="6858000" cy="62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50720"/>
            <a:ext cx="51054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93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3F32"/>
                </a:solidFill>
                <a:latin typeface="Microsoft YaHei"/>
              </a:defRPr>
            </a:pPr>
            <a:r>
              <a:t>Stack Exchange 技术问答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360" y="1927860"/>
            <a:ext cx="1295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59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37652"/>
                </a:solidFill>
                <a:latin typeface="Microsoft YaHei"/>
              </a:defRPr>
            </a:pPr>
            <a:r>
              <a:t>10,167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" y="2537460"/>
            <a:ext cx="6858000" cy="62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97480"/>
            <a:ext cx="51054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93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3F32"/>
                </a:solidFill>
                <a:latin typeface="Microsoft YaHei"/>
              </a:defRPr>
            </a:pPr>
            <a:r>
              <a:t>PostgreSQL 官方文档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28360" y="2674620"/>
            <a:ext cx="1295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59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37652"/>
                </a:solidFill>
                <a:latin typeface="Microsoft YaHei"/>
              </a:defRPr>
            </a:pPr>
            <a:r>
              <a:t>24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3284220"/>
            <a:ext cx="6858000" cy="62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444240"/>
            <a:ext cx="51054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93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3F32"/>
                </a:solidFill>
                <a:latin typeface="Microsoft YaHei"/>
              </a:defRPr>
            </a:pPr>
            <a:r>
              <a:t>Docker 官方文档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8360" y="3421380"/>
            <a:ext cx="1295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59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37652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4030980"/>
            <a:ext cx="6858000" cy="62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90999"/>
            <a:ext cx="51054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93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3F32"/>
                </a:solidFill>
                <a:latin typeface="Microsoft YaHei"/>
              </a:defRPr>
            </a:pPr>
            <a:r>
              <a:t>Python 官方文档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28360" y="4168140"/>
            <a:ext cx="1295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59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37652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" y="4777740"/>
            <a:ext cx="6858000" cy="62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937760"/>
            <a:ext cx="51054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93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3F32"/>
                </a:solidFill>
                <a:latin typeface="Microsoft YaHei"/>
              </a:defRPr>
            </a:pPr>
            <a:r>
              <a:t>Django 官方文档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28360" y="4914900"/>
            <a:ext cx="1295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59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37652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57159" y="1790700"/>
            <a:ext cx="38100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57159" y="1790700"/>
            <a:ext cx="53340" cy="1828800"/>
          </a:xfrm>
          <a:prstGeom prst="rect">
            <a:avLst/>
          </a:prstGeom>
          <a:solidFill>
            <a:srgbClr val="237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79" y="1958340"/>
            <a:ext cx="34442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7652"/>
                </a:solidFill>
                <a:latin typeface="Microsoft YaHei"/>
              </a:defRPr>
            </a:pPr>
            <a:r>
              <a:t>背景合计 10,215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2575560"/>
            <a:ext cx="3444240" cy="929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用于011冻结质量评价</a:t>
            </a:r>
          </a:p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来源与正文版本可追溯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57159" y="3878579"/>
            <a:ext cx="3810000" cy="198119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57159" y="3878579"/>
            <a:ext cx="53340" cy="1981199"/>
          </a:xfrm>
          <a:prstGeom prst="rect">
            <a:avLst/>
          </a:prstGeom>
          <a:solidFill>
            <a:srgbClr val="237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79" y="4046220"/>
            <a:ext cx="34442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7652"/>
                </a:solidFill>
                <a:latin typeface="Microsoft YaHei"/>
              </a:defRPr>
            </a:pPr>
            <a:r>
              <a:t>本次演示 12 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4663440"/>
            <a:ext cx="3444240" cy="1082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Python 7 + Django 5</a:t>
            </a:r>
          </a:p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原生中文官方全文</a:t>
            </a:r>
          </a:p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不冒充全库中文翻译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600" y="5920740"/>
            <a:ext cx="1104900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268"/>
                </a:solidFill>
                <a:latin typeface="Microsoft YaHei"/>
              </a:defRPr>
            </a:pPr>
            <a:r>
              <a:t>来源：009 scale.json / corpus manifest。镜像平台不重复计作独立内容来源。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37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96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07268"/>
                </a:solidFill>
                <a:latin typeface="Microsoft YaHei"/>
              </a:defRPr>
            </a:pPr>
            <a:r>
              <a:t>KNOWPIPE  /  课程项目汇报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6280"/>
            <a:ext cx="11163300" cy="807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9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3F32"/>
                </a:solidFill>
                <a:latin typeface="Microsoft YaHei"/>
              </a:defRPr>
            </a:pPr>
            <a:r>
              <a:t>核心算法：相关性先于“与已读不同”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47800"/>
            <a:ext cx="11125200" cy="15240"/>
          </a:xfrm>
          <a:prstGeom prst="rect">
            <a:avLst/>
          </a:prstGeom>
          <a:solidFill>
            <a:srgbClr val="C9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16040"/>
            <a:ext cx="10668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63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7268"/>
                </a:solidFill>
                <a:latin typeface="Microsoft YaHei"/>
              </a:defRPr>
            </a:pPr>
            <a:r>
              <a:t>单机 Spark · 实际网页与数据 · 演示运行和推荐质量分别验收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416040"/>
            <a:ext cx="685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9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37652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1874519"/>
            <a:ext cx="2575560" cy="2270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1874519"/>
            <a:ext cx="53340" cy="2270760"/>
          </a:xfrm>
          <a:prstGeom prst="rect">
            <a:avLst/>
          </a:prstGeom>
          <a:solidFill>
            <a:srgbClr val="237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620" y="2042160"/>
            <a:ext cx="22098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7652"/>
                </a:solidFill>
                <a:latin typeface="Microsoft YaHei"/>
              </a:defRPr>
            </a:pPr>
            <a:r>
              <a:t>1  全文召回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620" y="2659380"/>
            <a:ext cx="2209800" cy="13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Spark词汇索引</a:t>
            </a:r>
          </a:p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技术对象与正文过滤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900" y="1874519"/>
            <a:ext cx="2575560" cy="2270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90900" y="1874519"/>
            <a:ext cx="53340" cy="2270760"/>
          </a:xfrm>
          <a:prstGeom prst="rect">
            <a:avLst/>
          </a:prstGeom>
          <a:solidFill>
            <a:srgbClr val="237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9020" y="2042160"/>
            <a:ext cx="22098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7652"/>
                </a:solidFill>
                <a:latin typeface="Microsoft YaHei"/>
              </a:defRPr>
            </a:pPr>
            <a:r>
              <a:t>2  有界语义比较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2659380"/>
            <a:ext cx="2209800" cy="13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原中文目标相关性</a:t>
            </a:r>
          </a:p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候选与已读上下文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300" y="1874519"/>
            <a:ext cx="2575560" cy="2270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300" y="1874519"/>
            <a:ext cx="53340" cy="2270760"/>
          </a:xfrm>
          <a:prstGeom prst="rect">
            <a:avLst/>
          </a:prstGeom>
          <a:solidFill>
            <a:srgbClr val="237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8420" y="2042160"/>
            <a:ext cx="22098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7652"/>
                </a:solidFill>
                <a:latin typeface="Microsoft YaHei"/>
              </a:defRPr>
            </a:pPr>
            <a:r>
              <a:t>3  聚合并选择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8420" y="2659380"/>
            <a:ext cx="2209800" cy="13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相关度 + 可能补充</a:t>
            </a:r>
          </a:p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− 已读覆盖 − 列表</a:t>
            </a:r>
          </a:p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重复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29700" y="1874519"/>
            <a:ext cx="2575560" cy="2270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29700" y="1874519"/>
            <a:ext cx="53340" cy="2270760"/>
          </a:xfrm>
          <a:prstGeom prst="rect">
            <a:avLst/>
          </a:prstGeom>
          <a:solidFill>
            <a:srgbClr val="237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27820" y="2042160"/>
            <a:ext cx="22098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7652"/>
                </a:solidFill>
                <a:latin typeface="Microsoft YaHei"/>
              </a:defRPr>
            </a:pPr>
            <a:r>
              <a:t>4  返回证据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7820" y="2659380"/>
            <a:ext cx="2209800" cy="13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双方原文、版本、位</a:t>
            </a:r>
          </a:p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置</a:t>
            </a:r>
          </a:p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不确定范围明确可见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1500" y="4495800"/>
            <a:ext cx="11033760" cy="1386840"/>
          </a:xfrm>
          <a:prstGeom prst="roundRect">
            <a:avLst/>
          </a:prstGeom>
          <a:solidFill>
            <a:srgbClr val="DEE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100" y="4671060"/>
            <a:ext cx="10515600" cy="4038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192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37652"/>
                </a:solidFill>
                <a:latin typeface="Microsoft YaHei"/>
              </a:defRPr>
            </a:pPr>
            <a:r>
              <a:t>最多100篇候选，共300段正文；输出最多3项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" y="5212080"/>
            <a:ext cx="10363200" cy="518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3F32"/>
                </a:solidFill>
                <a:latin typeface="Microsoft YaHei"/>
              </a:defRPr>
            </a:pPr>
            <a:r>
              <a:t>模型只提供特征；自定义规则借鉴覆盖与MMR。不能把“换个说法”当成新知识。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37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96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07268"/>
                </a:solidFill>
                <a:latin typeface="Microsoft YaHei"/>
              </a:defRPr>
            </a:pPr>
            <a:r>
              <a:t>KNOWPIPE  /  课程项目汇报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6280"/>
            <a:ext cx="11163300" cy="807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9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3F32"/>
                </a:solidFill>
                <a:latin typeface="Microsoft YaHei"/>
              </a:defRPr>
            </a:pPr>
            <a:r>
              <a:t>实际页面：保存中文目标并查看推荐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47800"/>
            <a:ext cx="11125200" cy="15240"/>
          </a:xfrm>
          <a:prstGeom prst="rect">
            <a:avLst/>
          </a:prstGeom>
          <a:solidFill>
            <a:srgbClr val="C9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16040"/>
            <a:ext cx="10668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63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7268"/>
                </a:solidFill>
                <a:latin typeface="Microsoft YaHei"/>
              </a:defRPr>
            </a:pPr>
            <a:r>
              <a:t>单机 Spark · 实际网页与数据 · 演示运行和推荐质量分别验收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416040"/>
            <a:ext cx="685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9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37652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99260"/>
            <a:ext cx="7924799" cy="4358640"/>
          </a:xfrm>
          <a:prstGeom prst="rect">
            <a:avLst/>
          </a:prstGeom>
          <a:solidFill>
            <a:srgbClr val="FFFFFF"/>
          </a:solidFill>
          <a:ln>
            <a:solidFill>
              <a:srgbClr val="C9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-worksp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890" y="1699260"/>
            <a:ext cx="6972300" cy="43586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702040" y="1767840"/>
            <a:ext cx="2910840" cy="4145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02040" y="1767840"/>
            <a:ext cx="53340" cy="4145280"/>
          </a:xfrm>
          <a:prstGeom prst="rect">
            <a:avLst/>
          </a:prstGeom>
          <a:solidFill>
            <a:srgbClr val="237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00160" y="1935480"/>
            <a:ext cx="25450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7652"/>
                </a:solidFill>
                <a:latin typeface="Microsoft YaHei"/>
              </a:defRPr>
            </a:pPr>
            <a:r>
              <a:t>实际工程流程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00160" y="2552700"/>
            <a:ext cx="2545080" cy="3246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中文目标真实保存</a:t>
            </a:r>
          </a:p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</a:p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生产Spark返回结果</a:t>
            </a:r>
          </a:p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</a:p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首轮偏题仍存在</a:t>
            </a:r>
          </a:p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质量未通过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37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96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07268"/>
                </a:solidFill>
                <a:latin typeface="Microsoft YaHei"/>
              </a:defRPr>
            </a:pPr>
            <a:r>
              <a:t>KNOWPIPE  /  课程项目汇报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6280"/>
            <a:ext cx="11163300" cy="807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9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3F32"/>
                </a:solidFill>
                <a:latin typeface="Microsoft YaHei"/>
              </a:defRPr>
            </a:pPr>
            <a:r>
              <a:t>阅读与已读：行为改变可追踪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47800"/>
            <a:ext cx="11125200" cy="15240"/>
          </a:xfrm>
          <a:prstGeom prst="rect">
            <a:avLst/>
          </a:prstGeom>
          <a:solidFill>
            <a:srgbClr val="C9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16040"/>
            <a:ext cx="10668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63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7268"/>
                </a:solidFill>
                <a:latin typeface="Microsoft YaHei"/>
              </a:defRPr>
            </a:pPr>
            <a:r>
              <a:t>单机 Spark · 实际网页与数据 · 演示运行和推荐质量分别验收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416040"/>
            <a:ext cx="685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9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37652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67840"/>
            <a:ext cx="5699760" cy="4267200"/>
          </a:xfrm>
          <a:prstGeom prst="rect">
            <a:avLst/>
          </a:prstGeom>
          <a:solidFill>
            <a:srgbClr val="FFFFFF"/>
          </a:solidFill>
          <a:ln>
            <a:solidFill>
              <a:srgbClr val="C9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3-rea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18360"/>
            <a:ext cx="5699760" cy="35661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477000" y="1767840"/>
            <a:ext cx="5135880" cy="1981199"/>
          </a:xfrm>
          <a:prstGeom prst="rect">
            <a:avLst/>
          </a:prstGeom>
          <a:solidFill>
            <a:srgbClr val="FFFFFF"/>
          </a:solidFill>
          <a:ln>
            <a:solidFill>
              <a:srgbClr val="C9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4-his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9980" y="1767840"/>
            <a:ext cx="3169920" cy="1981199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477000" y="4038600"/>
            <a:ext cx="5135880" cy="1996439"/>
          </a:xfrm>
          <a:prstGeom prst="rect">
            <a:avLst/>
          </a:prstGeom>
          <a:solidFill>
            <a:srgbClr val="FFFFFF"/>
          </a:solidFill>
          <a:ln>
            <a:solidFill>
              <a:srgbClr val="C9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5-recomput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8550" y="4038600"/>
            <a:ext cx="3192780" cy="19964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6050280"/>
            <a:ext cx="5715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2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37652"/>
                </a:solidFill>
                <a:latin typeface="Microsoft YaHei"/>
              </a:defRPr>
            </a:pPr>
            <a:r>
              <a:t>原生中文全文阅读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1300" y="3779520"/>
            <a:ext cx="4953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9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37652"/>
                </a:solidFill>
                <a:latin typeface="Microsoft YaHei"/>
              </a:defRPr>
            </a:pPr>
            <a:r>
              <a:t>显式已读记录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1300" y="6065520"/>
            <a:ext cx="4953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9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37652"/>
                </a:solidFill>
                <a:latin typeface="Microsoft YaHei"/>
              </a:defRPr>
            </a:pPr>
            <a:r>
              <a:t>已读后的真实重算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37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96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07268"/>
                </a:solidFill>
                <a:latin typeface="Microsoft YaHei"/>
              </a:defRPr>
            </a:pPr>
            <a:r>
              <a:t>KNOWPIPE  /  课程项目汇报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6280"/>
            <a:ext cx="11163300" cy="807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9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3F32"/>
                </a:solidFill>
                <a:latin typeface="Microsoft YaHei"/>
              </a:defRPr>
            </a:pPr>
            <a:r>
              <a:t>RSS：真实音频已经进入推荐，但闭环仍有限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47800"/>
            <a:ext cx="11125200" cy="15240"/>
          </a:xfrm>
          <a:prstGeom prst="rect">
            <a:avLst/>
          </a:prstGeom>
          <a:solidFill>
            <a:srgbClr val="C9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16040"/>
            <a:ext cx="10668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63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7268"/>
                </a:solidFill>
                <a:latin typeface="Microsoft YaHei"/>
              </a:defRPr>
            </a:pPr>
            <a:r>
              <a:t>单机 Spark · 实际网页与数据 · 演示运行和推荐质量分别验收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416040"/>
            <a:ext cx="685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9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37652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9120" y="1805940"/>
            <a:ext cx="529590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9120" y="1805940"/>
            <a:ext cx="53340" cy="3611880"/>
          </a:xfrm>
          <a:prstGeom prst="rect">
            <a:avLst/>
          </a:prstGeom>
          <a:solidFill>
            <a:srgbClr val="237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73580"/>
            <a:ext cx="49301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7652"/>
                </a:solidFill>
                <a:latin typeface="Microsoft YaHei"/>
              </a:defRPr>
            </a:pPr>
            <a:r>
              <a:t>已经实际完成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90800"/>
            <a:ext cx="4930140" cy="2712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真实RSS条目与公开音频</a:t>
            </a:r>
          </a:p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完整音频进入ASR</a:t>
            </a:r>
          </a:p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产生2961字符全文</a:t>
            </a:r>
          </a:p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全文入库并实际入选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9340" y="1805940"/>
            <a:ext cx="544068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9340" y="1805940"/>
            <a:ext cx="53340" cy="3611880"/>
          </a:xfrm>
          <a:prstGeom prst="rect">
            <a:avLst/>
          </a:prstGeom>
          <a:solidFill>
            <a:srgbClr val="A55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7460" y="1973580"/>
            <a:ext cx="50749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A55E30"/>
                </a:solidFill>
                <a:latin typeface="Microsoft YaHei"/>
              </a:defRPr>
            </a:pPr>
            <a:r>
              <a:t>尚未通过或未验证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7460" y="2590800"/>
            <a:ext cx="5074920" cy="2712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播客中文本轮未就绪，零通知</a:t>
            </a:r>
          </a:p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转写没有独立逐字金标准</a:t>
            </a:r>
          </a:p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三分支补充通知仍待验证</a:t>
            </a:r>
          </a:p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不能据首次失败说重试耗尽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92140"/>
            <a:ext cx="10668000" cy="441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3F32"/>
                </a:solidFill>
                <a:latin typeface="Microsoft YaHei"/>
              </a:defRPr>
            </a:pPr>
            <a:r>
              <a:t>RSS提供增量资料；最终仍须接受相同目标相关性和已读比较门槛。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37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96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07268"/>
                </a:solidFill>
                <a:latin typeface="Microsoft YaHei"/>
              </a:defRPr>
            </a:pPr>
            <a:r>
              <a:t>KNOWPIPE  /  课程项目汇报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6280"/>
            <a:ext cx="11163300" cy="807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9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3F32"/>
                </a:solidFill>
                <a:latin typeface="Microsoft YaHei"/>
              </a:defRPr>
            </a:pPr>
            <a:r>
              <a:t>质量评价：保留真实失败，不把能运行当效果好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47800"/>
            <a:ext cx="11125200" cy="15240"/>
          </a:xfrm>
          <a:prstGeom prst="rect">
            <a:avLst/>
          </a:prstGeom>
          <a:solidFill>
            <a:srgbClr val="C9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16040"/>
            <a:ext cx="10668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63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7268"/>
                </a:solidFill>
                <a:latin typeface="Microsoft YaHei"/>
              </a:defRPr>
            </a:pPr>
            <a:r>
              <a:t>单机 Spark · 实际网页与数据 · 演示运行和推荐质量分别验收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416040"/>
            <a:ext cx="685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9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37652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744980"/>
            <a:ext cx="110490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325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3F32"/>
                </a:solidFill>
                <a:latin typeface="Microsoft YaHei"/>
              </a:defRPr>
            </a:pPr>
            <a:r>
              <a:t>17个冻结场景 · 35个返回项 · 四个技术主题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2476500"/>
            <a:ext cx="4075611" cy="762000"/>
          </a:xfrm>
          <a:prstGeom prst="rect">
            <a:avLst/>
          </a:prstGeom>
          <a:solidFill>
            <a:srgbClr val="237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3900" y="2674620"/>
            <a:ext cx="3847011" cy="434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26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直接有帮助 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85211" y="2476500"/>
            <a:ext cx="4075611" cy="762000"/>
          </a:xfrm>
          <a:prstGeom prst="rect">
            <a:avLst/>
          </a:prstGeom>
          <a:solidFill>
            <a:srgbClr val="92B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99511" y="2674620"/>
            <a:ext cx="3847011" cy="434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26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部分相关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60822" y="2476500"/>
            <a:ext cx="2821577" cy="762000"/>
          </a:xfrm>
          <a:prstGeom prst="rect">
            <a:avLst/>
          </a:prstGeom>
          <a:solidFill>
            <a:srgbClr val="AC5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75122" y="2674620"/>
            <a:ext cx="2592977" cy="434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26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无关 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600" y="3665220"/>
            <a:ext cx="3413760" cy="2042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600" y="3665220"/>
            <a:ext cx="53340" cy="2042160"/>
          </a:xfrm>
          <a:prstGeom prst="rect">
            <a:avLst/>
          </a:prstGeom>
          <a:solidFill>
            <a:srgbClr val="A55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720" y="3832860"/>
            <a:ext cx="3048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A55E30"/>
                </a:solidFill>
                <a:latin typeface="Microsoft YaHei"/>
              </a:defRPr>
            </a:pPr>
            <a:r>
              <a:t>37.1% 直接相关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720" y="4450080"/>
            <a:ext cx="304800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宽松计部分相关为74.3%</a:t>
            </a:r>
          </a:p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仍未达到冻结80%门槛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58640" y="3665220"/>
            <a:ext cx="3413760" cy="2042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58640" y="3665220"/>
            <a:ext cx="53340" cy="2042160"/>
          </a:xfrm>
          <a:prstGeom prst="rect">
            <a:avLst/>
          </a:prstGeom>
          <a:solidFill>
            <a:srgbClr val="A55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6760" y="3832860"/>
            <a:ext cx="3048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A55E30"/>
                </a:solidFill>
                <a:latin typeface="Microsoft YaHei"/>
              </a:defRPr>
            </a:pPr>
            <a:r>
              <a:t>11 条错误补充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6760" y="4450080"/>
            <a:ext cx="304800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另有12条解释依据不足</a:t>
            </a:r>
          </a:p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同义复述误报仍存在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07680" y="3665220"/>
            <a:ext cx="3413760" cy="2042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07680" y="3665220"/>
            <a:ext cx="53340" cy="2042160"/>
          </a:xfrm>
          <a:prstGeom prst="rect">
            <a:avLst/>
          </a:prstGeom>
          <a:solidFill>
            <a:srgbClr val="237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5800" y="3832860"/>
            <a:ext cx="3048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7652"/>
                </a:solidFill>
                <a:latin typeface="Microsoft YaHei"/>
              </a:defRPr>
            </a:pPr>
            <a:r>
              <a:t>字面 ≠ 语义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5800" y="4450080"/>
            <a:ext cx="304800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348处原文位置校验通过</a:t>
            </a:r>
          </a:p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不能抵消推荐含义错误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90550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07268"/>
                </a:solidFill>
                <a:latin typeface="Microsoft YaHei"/>
              </a:defRPr>
            </a:pPr>
            <a:r>
              <a:t>含明确受控场景；代理原文审核，不是学生学习提升实证。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37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96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07268"/>
                </a:solidFill>
                <a:latin typeface="Microsoft YaHei"/>
              </a:defRPr>
            </a:pPr>
            <a:r>
              <a:t>KNOWPIPE  /  课程项目汇报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6280"/>
            <a:ext cx="11163300" cy="807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9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3F32"/>
                </a:solidFill>
                <a:latin typeface="Microsoft YaHei"/>
              </a:defRPr>
            </a:pPr>
            <a:r>
              <a:t>SDD与分工：需求、代码、证据能够对上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47800"/>
            <a:ext cx="11125200" cy="15240"/>
          </a:xfrm>
          <a:prstGeom prst="rect">
            <a:avLst/>
          </a:prstGeom>
          <a:solidFill>
            <a:srgbClr val="C9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16040"/>
            <a:ext cx="10668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63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7268"/>
                </a:solidFill>
                <a:latin typeface="Microsoft YaHei"/>
              </a:defRPr>
            </a:pPr>
            <a:r>
              <a:t>单机 Spark · 实际网页与数据 · 演示运行和推荐质量分别验收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416040"/>
            <a:ext cx="685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9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37652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1767840"/>
            <a:ext cx="539496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1767840"/>
            <a:ext cx="53340" cy="2103120"/>
          </a:xfrm>
          <a:prstGeom prst="rect">
            <a:avLst/>
          </a:prstGeom>
          <a:solidFill>
            <a:srgbClr val="237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620" y="1935480"/>
            <a:ext cx="50292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7652"/>
                </a:solidFill>
                <a:latin typeface="Microsoft YaHei"/>
              </a:defRPr>
            </a:pPr>
            <a:r>
              <a:t>可追溯过程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620" y="2552700"/>
            <a:ext cx="5029200" cy="1203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Spec / plan / tasks / contracts</a:t>
            </a:r>
          </a:p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冻结输入 → 实现 → 原文核验</a:t>
            </a:r>
          </a:p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Git真实提交 + 提示词来源归档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5540" y="1767840"/>
            <a:ext cx="539496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5540" y="1767840"/>
            <a:ext cx="53340" cy="2103120"/>
          </a:xfrm>
          <a:prstGeom prst="rect">
            <a:avLst/>
          </a:prstGeom>
          <a:solidFill>
            <a:srgbClr val="237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35480"/>
            <a:ext cx="50292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7652"/>
                </a:solidFill>
                <a:latin typeface="Microsoft YaHei"/>
              </a:defRPr>
            </a:pPr>
            <a:r>
              <a:t>最终分工（用户已确认）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3660" y="2552700"/>
            <a:ext cx="5029200" cy="1203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陶文杰：数据、Spark、算法评价 50%</a:t>
            </a:r>
          </a:p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陈铭宇：Mongo、API、Web/材料 50%</a:t>
            </a:r>
          </a:p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与初版分工无调整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4190999"/>
            <a:ext cx="11049000" cy="1653540"/>
          </a:xfrm>
          <a:prstGeom prst="roundRect">
            <a:avLst/>
          </a:prstGeom>
          <a:solidFill>
            <a:srgbClr val="DEE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" y="4419600"/>
            <a:ext cx="10439400" cy="396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192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37652"/>
                </a:solidFill>
                <a:latin typeface="Microsoft YaHei"/>
              </a:defRPr>
            </a:pPr>
            <a:r>
              <a:t>六项交付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" y="4983480"/>
            <a:ext cx="1043940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93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3F32"/>
                </a:solidFill>
                <a:latin typeface="Microsoft YaHei"/>
              </a:defRPr>
            </a:pPr>
            <a:r>
              <a:t>源码URL与Git · 需求/设计与提示词 · 项目报告</a:t>
            </a:r>
          </a:p>
          <a:p>
            <a:pPr>
              <a:lnSpc>
                <a:spcPts val="2793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3F32"/>
                </a:solidFill>
                <a:latin typeface="Microsoft YaHei"/>
              </a:defRPr>
            </a:pPr>
            <a:r>
              <a:t>≤5分钟MP4 · 分组分工表 · 可编辑汇报PPT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37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96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07268"/>
                </a:solidFill>
                <a:latin typeface="Microsoft YaHei"/>
              </a:defRPr>
            </a:pPr>
            <a:r>
              <a:t>KNOWPIPE  /  课程项目汇报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6280"/>
            <a:ext cx="11163300" cy="807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9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83F32"/>
                </a:solidFill>
                <a:latin typeface="Microsoft YaHei"/>
              </a:defRPr>
            </a:pPr>
            <a:r>
              <a:t>下一步：先解决用户价值，再扩大规模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47800"/>
            <a:ext cx="11125200" cy="15240"/>
          </a:xfrm>
          <a:prstGeom prst="rect">
            <a:avLst/>
          </a:prstGeom>
          <a:solidFill>
            <a:srgbClr val="C9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16040"/>
            <a:ext cx="10668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63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7268"/>
                </a:solidFill>
                <a:latin typeface="Microsoft YaHei"/>
              </a:defRPr>
            </a:pPr>
            <a:r>
              <a:t>单机 Spark · 实际网页与数据 · 演示运行和推荐质量分别验收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416040"/>
            <a:ext cx="685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9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37652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9120" y="1752600"/>
            <a:ext cx="3429000" cy="2514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9120" y="1752600"/>
            <a:ext cx="53340" cy="2514600"/>
          </a:xfrm>
          <a:prstGeom prst="rect">
            <a:avLst/>
          </a:prstGeom>
          <a:solidFill>
            <a:srgbClr val="237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20240"/>
            <a:ext cx="30632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7652"/>
                </a:solidFill>
                <a:latin typeface="Microsoft YaHei"/>
              </a:defRPr>
            </a:pPr>
            <a:r>
              <a:t>01 找对材料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37460"/>
            <a:ext cx="3063240" cy="1615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正文直接回答目标</a:t>
            </a:r>
          </a:p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区分错误技术对象</a:t>
            </a:r>
          </a:p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用独立原文事实验收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752600"/>
            <a:ext cx="3429000" cy="2514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752600"/>
            <a:ext cx="53340" cy="2514600"/>
          </a:xfrm>
          <a:prstGeom prst="rect">
            <a:avLst/>
          </a:prstGeom>
          <a:solidFill>
            <a:srgbClr val="237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1520" y="1920240"/>
            <a:ext cx="30632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7652"/>
                </a:solidFill>
                <a:latin typeface="Microsoft YaHei"/>
              </a:defRPr>
            </a:pPr>
            <a:r>
              <a:t>02 解释对价值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1520" y="2537460"/>
            <a:ext cx="3063240" cy="1615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同义复述不算新增</a:t>
            </a:r>
          </a:p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双方证据不足就保留不确定</a:t>
            </a:r>
          </a:p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完成正负通知对照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7680" y="1752600"/>
            <a:ext cx="3429000" cy="2514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07680" y="1752600"/>
            <a:ext cx="53340" cy="2514600"/>
          </a:xfrm>
          <a:prstGeom prst="rect">
            <a:avLst/>
          </a:prstGeom>
          <a:solidFill>
            <a:srgbClr val="237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5800" y="1920240"/>
            <a:ext cx="30632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7652"/>
                </a:solidFill>
                <a:latin typeface="Microsoft YaHei"/>
              </a:defRPr>
            </a:pPr>
            <a:r>
              <a:t>03 读懂中文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5800" y="2537460"/>
            <a:ext cx="3063240" cy="1615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远程4次调用鉴权失败</a:t>
            </a:r>
          </a:p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先解决HTTP 401，再核对语</a:t>
            </a:r>
          </a:p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义</a:t>
            </a:r>
          </a:p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F32"/>
                </a:solidFill>
                <a:latin typeface="Microsoft YaHei"/>
              </a:defRPr>
            </a:pPr>
            <a:r>
              <a:t>失败不回退本地或收费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840" y="4853940"/>
            <a:ext cx="10972800" cy="800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57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237652"/>
                </a:solidFill>
                <a:latin typeface="Microsoft YaHei"/>
              </a:defRPr>
            </a:pPr>
            <a:r>
              <a:t>质量达到门槛以后，再决定增加语料、并发与跨主机Spark。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700" y="5859780"/>
            <a:ext cx="10668000" cy="335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9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A55E30"/>
                </a:solidFill>
                <a:latin typeface="Microsoft YaHei"/>
              </a:defRPr>
            </a:pPr>
            <a:r>
              <a:t>当前结论：工程演示与质量验证分开，所有失败和依赖如实保留。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