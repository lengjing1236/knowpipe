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开场只讲选题和一句话价值，不在封面解释技术细节。</a:t>
            </a:r>
          </a:p>
          <a:p>
            <a:r>
              <a:t>建议用时：25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先讲用户问题，再自然引出个性化知识发现。强调不是纯增删改查。</a:t>
            </a:r>
          </a:p>
          <a:p>
            <a:r>
              <a:t>建议用时：40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一句话给出选题结论。此页只回答“做什么、用什么数据、靠什么技术”。</a:t>
            </a:r>
          </a:p>
          <a:p>
            <a:r>
              <a:t>建议用时：40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强调平台总量只证明容量；课程规模要用实际清洗后、写入 MongoDB 的唯一文档数证明。</a:t>
            </a:r>
          </a:p>
          <a:p>
            <a:r>
              <a:t>建议用时：55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沿箭头从数据走到页面。每层补一句证据：Spark 日志、Mongo 查询、API JSON、浏览器页面。</a:t>
            </a:r>
          </a:p>
          <a:p>
            <a:r>
              <a:t>建议用时：55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突出 Spark 实际参与清洗和算法，不把现有 Python 线程池或 LLM 摘要包装成 Spark 挖掘。</a:t>
            </a:r>
          </a:p>
          <a:p>
            <a:r>
              <a:t>建议用时：55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用一个例子口头说明：用户已知 Python、Spark，系统可过滤基础语法，保留 partition、streaming 等新增主题。</a:t>
            </a:r>
          </a:p>
          <a:p>
            <a:r>
              <a:t>“可能冲突”属于提升项，只有可追溯证据和人工复核后才展示。</a:t>
            </a:r>
          </a:p>
          <a:p>
            <a:r>
              <a:t>建议用时：65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课程材料只说真实集群优于单机，没有具体扣分数，因此不做虚假量化。</a:t>
            </a:r>
          </a:p>
          <a:p>
            <a:r>
              <a:t>建议用时：55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强调项目不会为了显得复杂而加入微服务、复杂权限或知识图谱。</a:t>
            </a:r>
          </a:p>
          <a:p>
            <a:r>
              <a:t>建议用时：40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补充三个关键时间点：第 2 天环境闸门、第 5 天选题闸门、第 10 天基线闸门。</a:t>
            </a:r>
          </a:p>
          <a:p>
            <a:r>
              <a:t>建议用时：55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说明贡献比例是初版，最终按 Git 提交和真实交付调整，并说明差异。</a:t>
            </a:r>
          </a:p>
          <a:p>
            <a:r>
              <a:t>建议用时：40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风险页不逐项读表，只讲四个最影响成败的决策节点及其失败替代。</a:t>
            </a:r>
          </a:p>
          <a:p>
            <a:r>
              <a:t>建议用时：50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对应课程五项评分维度，尤其强调系统完整性权重最高。</a:t>
            </a:r>
          </a:p>
          <a:p>
            <a:r>
              <a:t>建议用时：45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收束后等待教师确认：数据源、集群、MongoDB、个性化评价和提交环境。</a:t>
            </a:r>
          </a:p>
          <a:p>
            <a:r>
              <a:t>建议用时：30 秒。全程预计约 8 分 45 秒，可留出停顿和页面切换时间。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23960" y="0"/>
            <a:ext cx="3364992" cy="306324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45720"/>
            <a:ext cx="2560320" cy="2560320"/>
          </a:xfrm>
          <a:prstGeom prst="round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12680" y="621792"/>
            <a:ext cx="1463040" cy="1463040"/>
          </a:xfrm>
          <a:prstGeom prst="roundRect">
            <a:avLst/>
          </a:prstGeom>
          <a:solidFill>
            <a:srgbClr val="0A1220"/>
          </a:solidFill>
          <a:ln>
            <a:solidFill>
              <a:srgbClr val="0A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100584" cy="3474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078992"/>
            <a:ext cx="7909560" cy="2240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F5F8FC"/>
                </a:solidFill>
                <a:latin typeface="Microsoft YaHei"/>
              </a:rPr>
              <a:t>基于 Spark 与 MongoDB 的</a:t>
            </a:r>
            <a:br/>
            <a:r>
              <a:t>多源技术内容知识挖掘与个性化发现 Web 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794760"/>
            <a:ext cx="7772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39D5D3"/>
                </a:solidFill>
                <a:latin typeface="Microsoft YaHei"/>
              </a:rPr>
              <a:t>从“信息很多”走向“只发现值得我学的新知识”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074920"/>
            <a:ext cx="77724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EBECF"/>
                </a:solidFill>
                <a:latin typeface="Microsoft YaHei"/>
              </a:rPr>
              <a:t>陶文杰 · 陈铭宇　｜　课程项目选题确认　｜　2026-09-03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617220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AEBECF"/>
                </a:solidFill>
                <a:latin typeface="Microsoft YaHei"/>
              </a:rPr>
              <a:t>KNOWPIPE ·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技术内容很多，但“下一步学什么”仍然困难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07408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① 内容分散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工程问答与学术论文彼此割裂，跨来源发现成本高。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640" y="1325880"/>
            <a:ext cx="64008" cy="4407408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② 重复推荐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普通检索不了解用户已经掌握什么，重复内容占用时间。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199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199" y="1325880"/>
            <a:ext cx="64008" cy="4407408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799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③ 缺少解释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799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用户看不到“为什么推荐、哪里是新知识、来源是否可信”。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我们要解决的不是“再做一个搜索框”，而是已有知识基础上的可解释发现。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我们的答案：一条可验证的知识发现链路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07408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主数据源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Stack Exchange 多站点技术问答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8640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58640" y="1325880"/>
            <a:ext cx="64008" cy="4407408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7240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稳定补充源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7240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arXiv Computer Science 标题与摘要元数据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199" y="1325880"/>
            <a:ext cx="348996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199" y="1325880"/>
            <a:ext cx="64008" cy="4407408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5799" y="1508760"/>
            <a:ext cx="307847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核心方法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799" y="2075688"/>
            <a:ext cx="303276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600">
                <a:solidFill>
                  <a:srgbClr val="AEBECF"/>
                </a:solidFill>
                <a:latin typeface="Microsoft YaHei"/>
              </a:rPr>
              <a:t>Spark 清洗与 TF-IDF → MongoDB 管理 → Web 个性化发现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先完成课程基线，再增加跨来源知识桥等亮点。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数据选择：工程实践 + 学术研究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07408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Stack Exchange｜规模主源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已核验：Stack Overflow 问题数超过 2,400 万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正文、标签、时间、质量分数、记录级许可证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计划采集 12,000～15,000 条，保证有效入库 ≥10,000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每条保留原始链接、署名和 content_license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4407408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arXiv CS｜异构补充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已核验：cs.* 元数据约 93 万条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标题、摘要、作者、分类、发表时间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元数据 CC0；论文全文许可仍逐篇判断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默认不依赖它满足 1 万条门槛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B 站与 RSS 不进入核心规模，只在许可和稳定性确认后作为特色功能。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四层闭环：每一层都有运行证据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993392" cy="29718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64008" cy="2971800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多源数据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24327"/>
            <a:ext cx="1536192" cy="2057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AEBECF"/>
                </a:solidFill>
                <a:latin typeface="Microsoft YaHei"/>
              </a:rPr>
              <a:t>Stack Exchange · arXiv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15184" y="3008376"/>
            <a:ext cx="292608" cy="347472"/>
          </a:xfrm>
          <a:prstGeom prst="rightArrow">
            <a:avLst/>
          </a:prstGeom>
          <a:solidFill>
            <a:srgbClr val="AEBECF"/>
          </a:solidFill>
          <a:ln>
            <a:solidFill>
              <a:srgbClr val="AE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62072" y="1874519"/>
            <a:ext cx="1993392" cy="29718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62072" y="1874519"/>
            <a:ext cx="64008" cy="2971800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057400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④ 大数据处理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624327"/>
            <a:ext cx="1536192" cy="2057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AEBECF"/>
                </a:solidFill>
                <a:latin typeface="Microsoft YaHei"/>
              </a:rPr>
              <a:t>Spark 清洗 · 去重 · TF-IDF · 相似度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7176" y="3008376"/>
            <a:ext cx="292608" cy="347472"/>
          </a:xfrm>
          <a:prstGeom prst="rightArrow">
            <a:avLst/>
          </a:prstGeom>
          <a:solidFill>
            <a:srgbClr val="AEBECF"/>
          </a:solidFill>
          <a:ln>
            <a:solidFill>
              <a:srgbClr val="AE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1874519"/>
            <a:ext cx="1993392" cy="29718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84064" y="1874519"/>
            <a:ext cx="64008" cy="29718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2057400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③ 管理与挖掘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624327"/>
            <a:ext cx="1536192" cy="2057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AEBECF"/>
                </a:solidFill>
                <a:latin typeface="Microsoft YaHei"/>
              </a:rPr>
              <a:t>MongoDB 文档 · 结果 · 用户知识画像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9168" y="3008376"/>
            <a:ext cx="292608" cy="347472"/>
          </a:xfrm>
          <a:prstGeom prst="rightArrow">
            <a:avLst/>
          </a:prstGeom>
          <a:solidFill>
            <a:srgbClr val="AEBECF"/>
          </a:solidFill>
          <a:ln>
            <a:solidFill>
              <a:srgbClr val="AE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6" y="1874519"/>
            <a:ext cx="1993392" cy="29718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6056" y="1874519"/>
            <a:ext cx="64008" cy="2971800"/>
          </a:xfrm>
          <a:prstGeom prst="rect">
            <a:avLst/>
          </a:prstGeom>
          <a:solidFill>
            <a:srgbClr val="57CC99"/>
          </a:solidFill>
          <a:ln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2057400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② 业务逻辑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2624327"/>
            <a:ext cx="1536192" cy="2057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AEBECF"/>
                </a:solidFill>
                <a:latin typeface="Microsoft YaHei"/>
              </a:rPr>
              <a:t>Flask 文档 · 主题 · 推荐 API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81160" y="3008376"/>
            <a:ext cx="292608" cy="347472"/>
          </a:xfrm>
          <a:prstGeom prst="rightArrow">
            <a:avLst/>
          </a:prstGeom>
          <a:solidFill>
            <a:srgbClr val="AEBECF"/>
          </a:solidFill>
          <a:ln>
            <a:solidFill>
              <a:srgbClr val="AE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28048" y="1874519"/>
            <a:ext cx="1993392" cy="29718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8048" y="1874519"/>
            <a:ext cx="64008" cy="2971800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2057400"/>
            <a:ext cx="1581912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① Web 交互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2624327"/>
            <a:ext cx="1536192" cy="20574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>
                <a:solidFill>
                  <a:srgbClr val="AEBECF"/>
                </a:solidFill>
                <a:latin typeface="Microsoft YaHei"/>
              </a:rPr>
              <a:t>已有知识选择 · 推荐理由 · 关键词可视化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41732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AEBECF"/>
                </a:solidFill>
                <a:latin typeface="Microsoft YaHei"/>
              </a:rPr>
              <a:t>数据输入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5047488"/>
            <a:ext cx="1417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AEBECF"/>
                </a:solidFill>
                <a:latin typeface="Microsoft YaHei"/>
              </a:rPr>
              <a:t>用户价值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Spark 做真正可解释的文本挖掘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42032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719072"/>
            <a:ext cx="566928" cy="566928"/>
          </a:xfrm>
          <a:prstGeom prst="ellipse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1220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14600"/>
            <a:ext cx="21762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8FC"/>
                </a:solidFill>
                <a:latin typeface="Microsoft YaHei"/>
              </a:rPr>
              <a:t>1. 清洗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2176272" cy="1737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解析 HTML、规范字段、过滤空文档与重复内容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1" y="1481328"/>
            <a:ext cx="2542032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93591" y="1719072"/>
            <a:ext cx="566928" cy="566928"/>
          </a:xfrm>
          <a:prstGeom prst="ellipse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1" y="1783080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1220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514600"/>
            <a:ext cx="21762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8FC"/>
                </a:solidFill>
                <a:latin typeface="Microsoft YaHei"/>
              </a:rPr>
              <a:t>2. 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3154680"/>
            <a:ext cx="2176272" cy="1737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CountVectorizer / HashingTF + IDF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81328"/>
            <a:ext cx="2542032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719072"/>
            <a:ext cx="566928" cy="566928"/>
          </a:xfrm>
          <a:prstGeom prst="ellipse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783080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1220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514600"/>
            <a:ext cx="21762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8FC"/>
                </a:solidFill>
                <a:latin typeface="Microsoft YaHei"/>
              </a:rPr>
              <a:t>3. 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154680"/>
            <a:ext cx="2176272" cy="1737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top-k 关键词、主题相关度、文档相似度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1481328"/>
            <a:ext cx="2542032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34855" y="1719072"/>
            <a:ext cx="566928" cy="566928"/>
          </a:xfrm>
          <a:prstGeom prst="ellipse">
            <a:avLst/>
          </a:prstGeom>
          <a:solidFill>
            <a:srgbClr val="57CC99"/>
          </a:solidFill>
          <a:ln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4855" y="1783080"/>
            <a:ext cx="566928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A1220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4855" y="2514600"/>
            <a:ext cx="2176272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5F8FC"/>
                </a:solidFill>
                <a:latin typeface="Microsoft YaHei"/>
              </a:rPr>
              <a:t>4. 评价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4855" y="3154680"/>
            <a:ext cx="2176272" cy="17373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与热门度/纯相似度基线比较 Precision@K、NDCG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LLM 只辅助解释和文档，不承担核心分数、规模证明或 Spark 证据。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个性化：推荐与我“相关但不重复”的内容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10927080" cy="9144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08760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9D5D3"/>
                </a:solidFill>
                <a:latin typeface="Microsoft YaHei"/>
              </a:rPr>
              <a:t>用户已有知识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90472"/>
            <a:ext cx="8229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5F8FC"/>
                </a:solidFill>
                <a:latin typeface="Microsoft YaHei"/>
              </a:rPr>
              <a:t>显式主题 · 已读文档 · 已确认知识卡 · 用户反馈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474720" cy="32004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514600"/>
            <a:ext cx="64008" cy="3200400"/>
          </a:xfrm>
          <a:prstGeom prst="rect">
            <a:avLst/>
          </a:prstGeom>
          <a:solidFill>
            <a:srgbClr val="AEBECF"/>
          </a:solidFill>
          <a:ln>
            <a:solidFill>
              <a:srgbClr val="AEBE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06323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已知 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64408"/>
            <a:ext cx="3017520" cy="2286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高度覆盖且知识增量低 → 默认过滤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514600"/>
            <a:ext cx="3474720" cy="32004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2514600"/>
            <a:ext cx="64008" cy="3200400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697480"/>
            <a:ext cx="306323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深化 refine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64408"/>
            <a:ext cx="3017520" cy="2286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与已有主题相关，同时出现明显新增关键词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514600"/>
            <a:ext cx="3474720" cy="320040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514600"/>
            <a:ext cx="64008" cy="3200400"/>
          </a:xfrm>
          <a:prstGeom prst="rect">
            <a:avLst/>
          </a:prstGeom>
          <a:solidFill>
            <a:srgbClr val="57CC99"/>
          </a:solidFill>
          <a:ln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6" y="2697480"/>
            <a:ext cx="306323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新知识 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264408"/>
            <a:ext cx="3017520" cy="228600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位于相邻主题，新增知识比例较高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推荐理由同时展示：匹配主题、新增关键词、来源、质量分和分数构成。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运行策略：真实集群优先，local 明确降级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07408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主路径｜真实分布式 Spark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优先申请课程 standalone / YARN 集群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保存 master、应用 ID、worker/executor、DAG 和 event log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用多节点任务分布证明“真实分布式”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对应课程底层架构评分优势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4407408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备用路径｜Spark local[*]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仅在集群不可用且教师允许时采用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仍运行真实 DataFrame / SQL / MLlib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保持相同数据契约和结果格式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明确标注“单机模式”，不冒充分布式集群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当前本机尚无 Spark 和 MongoDB，两条路径都必须先过环境闸门。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范围控制：基线必须稳，亮点允许放弃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98448"/>
            <a:ext cx="10927080" cy="12070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1600200" cy="1207008"/>
          </a:xfrm>
          <a:prstGeom prst="rect">
            <a:avLst/>
          </a:prstGeom>
          <a:solidFill>
            <a:srgbClr val="57CC99"/>
          </a:solidFill>
          <a:ln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55064"/>
            <a:ext cx="12984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A1220"/>
                </a:solidFill>
                <a:latin typeface="Microsoft YaHei"/>
              </a:rPr>
              <a:t>基线｜必须完成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600200"/>
            <a:ext cx="8732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≥10,000 文档 · Spark 挖掘 · MongoDB · API · Web · 个性化 · 全套证据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927080" cy="12070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88920"/>
            <a:ext cx="1600200" cy="1207008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45536"/>
            <a:ext cx="12984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A1220"/>
                </a:solidFill>
                <a:latin typeface="Microsoft YaHei"/>
              </a:rPr>
              <a:t>提升｜基线稳定后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090672"/>
            <a:ext cx="8732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跨来源关联 · 新/已知/深化解释 · 关键词或推荐质量评价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79392"/>
            <a:ext cx="10927080" cy="12070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79392"/>
            <a:ext cx="1600200" cy="1207008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7"/>
            <a:ext cx="12984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>
                <a:solidFill>
                  <a:srgbClr val="0A1220"/>
                </a:solidFill>
                <a:latin typeface="Microsoft YaHei"/>
              </a:rPr>
              <a:t>惊喜｜不影响基线时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581144"/>
            <a:ext cx="87325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5F8FC"/>
                </a:solidFill>
                <a:latin typeface="Microsoft YaHei"/>
              </a:rPr>
              <a:t>B 站/RSS 增量 · 反馈校准 · 工程问答到论文扩展 · 丰富可视化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第 10 天基线未稳定，就停止所有惊喜功能。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三周计划：先消除高风险，再扩展规模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74720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3474720" cy="128016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5091FF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971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5F8FC"/>
                </a:solidFill>
                <a:latin typeface="Microsoft YaHei"/>
              </a:rPr>
              <a:t>第 1 周｜确认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2971800" cy="1645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环境与权限 → 数据许可与样本 → 规模验证 → Spec Kit 与选题确认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508760"/>
            <a:ext cx="3474720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508760"/>
            <a:ext cx="3474720" cy="128016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74519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39D5D3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14600"/>
            <a:ext cx="2971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5F8FC"/>
                </a:solidFill>
                <a:latin typeface="Microsoft YaHei"/>
              </a:rPr>
              <a:t>第 2 周｜贯通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182112"/>
            <a:ext cx="2971800" cy="1645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100+100 技术切片 → Spark/Mongo/API/Web → 扩展到 ≥10,000 → 推荐评价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08760"/>
            <a:ext cx="3474720" cy="416052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508760"/>
            <a:ext cx="3474720" cy="128016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1874519"/>
            <a:ext cx="640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BF47"/>
                </a:solidFill>
                <a:latin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514600"/>
            <a:ext cx="297180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5F8FC"/>
                </a:solidFill>
                <a:latin typeface="Microsoft YaHei"/>
              </a:rPr>
              <a:t>第 3 周｜证明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182112"/>
            <a:ext cx="2971800" cy="164592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全量复跑 → 稳定性与指标 → 规约/报告/PPT → 视频与答辩演练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第一个垂直切片在扩展万条之前完成；所有阶段都有证据和降级方案。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两人各 50%，都参与核心模块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4407408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陶文杰｜数据、Spark、挖掘评价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数据采集、统一字段和规模统计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Spark 清洗、TF-IDF、相似度与运行证据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推荐基线、指标和性能复跑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349240" cy="4407408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4407408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陈铭宇｜MongoDB、API、Web、用户画像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892040" cy="3493008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集合、索引、幂等写入和查询证据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Flask API 与单页 Web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>
                <a:solidFill>
                  <a:srgbClr val="AEBECF"/>
                </a:solidFill>
                <a:latin typeface="Microsoft YaHei"/>
              </a:rPr>
              <a:t>• 用户知识画像、交互、规约和演示整合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共同评审 schema、评分公式和四层架构；双方都必须能启动并解释对方模块。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四个决策闸门，避免最后一周才暴雷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07592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07592"/>
            <a:ext cx="64008" cy="196596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第 2 天｜环境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集群、MongoDB、权限是否可用？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07592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07592"/>
            <a:ext cx="64008" cy="1965960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第 3 天｜合规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Stack Exchange 许可、API 配额、展示边界是否明确？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39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39"/>
            <a:ext cx="64008" cy="1965960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第 5 天｜选题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数据组合、local 降级、个性化评价是否获教师确认？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39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39"/>
            <a:ext cx="64008" cy="1965960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第 10 天｜范围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70248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万条链路是否稳定？是否有余量进入提升功能？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MongoDB 不可用时不能用 SQLite 冒充；许可不清时立即更换或缩减来源。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10896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5F8FC"/>
                </a:solidFill>
                <a:latin typeface="Microsoft YaHei"/>
              </a:rPr>
              <a:t>最终交付的不只是一个页面，而是一条证据链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658368" cy="4572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38328"/>
            <a:ext cx="4114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AEBECF"/>
                </a:solidFill>
                <a:latin typeface="Microsoft Ya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07592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07592"/>
            <a:ext cx="64008" cy="196596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9047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数据证据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来源 · 许可 · 实采数 · 去重数 · 有效数 · 入库数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07592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07592"/>
            <a:ext cx="64008" cy="1965960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9047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运行证据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Spark master/executor/DAG · MongoDB 集合与索引 · API JSON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20439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520439"/>
            <a:ext cx="64008" cy="1965960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0332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效果证据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0248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页面与视频 · 推荐理由 · Precision@K/NDCG · 基线对比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39"/>
            <a:ext cx="5349240" cy="196596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20439"/>
            <a:ext cx="64008" cy="1965960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F8FC"/>
                </a:solidFill>
                <a:latin typeface="Microsoft YaHei"/>
              </a:rPr>
              <a:t>过程证据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70248"/>
            <a:ext cx="4892040" cy="1051560"/>
          </a:xfrm>
          <a:prstGeom prst="rect">
            <a:avLst/>
          </a:prstGeom>
          <a:noFill/>
        </p:spPr>
        <p:txBody>
          <a:bodyPr wrap="square" lIns="36576" rIns="36576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>
                <a:solidFill>
                  <a:srgbClr val="AEBECF"/>
                </a:solidFill>
                <a:latin typeface="Microsoft YaHei"/>
              </a:rPr>
              <a:t>Spec Kit 规约 · 全部提示词 · Git 历史 · 分工与贡献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5F8FC"/>
                </a:solidFill>
                <a:latin typeface="Microsoft YaHei"/>
              </a:rPr>
              <a:t>预期成果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99669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1">
                <a:solidFill>
                  <a:srgbClr val="39D5D3"/>
                </a:solidFill>
                <a:latin typeface="Microsoft YaHei"/>
              </a:rPr>
              <a:t>一个可运行、可答辩、可追溯的技术知识发现系统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880360"/>
            <a:ext cx="2057400" cy="123444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4944" y="2880360"/>
            <a:ext cx="2057400" cy="91440"/>
          </a:xfrm>
          <a:prstGeom prst="rect">
            <a:avLst/>
          </a:prstGeom>
          <a:solidFill>
            <a:srgbClr val="AA7CFF"/>
          </a:solidFill>
          <a:ln>
            <a:solidFill>
              <a:srgbClr val="A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3218688"/>
            <a:ext cx="181965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8FC"/>
                </a:solidFill>
                <a:latin typeface="Microsoft YaHei"/>
              </a:rPr>
              <a:t>多源真实文档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80944" y="2880360"/>
            <a:ext cx="2057400" cy="123444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0944" y="2880360"/>
            <a:ext cx="2057400" cy="91440"/>
          </a:xfrm>
          <a:prstGeom prst="rect">
            <a:avLst/>
          </a:prstGeom>
          <a:solidFill>
            <a:srgbClr val="5091FF"/>
          </a:solidFill>
          <a:ln>
            <a:solidFill>
              <a:srgbClr val="50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9815" y="3218688"/>
            <a:ext cx="181965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8FC"/>
                </a:solidFill>
                <a:latin typeface="Microsoft YaHei"/>
              </a:rPr>
              <a:t>Spark 可解释挖掘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2880360"/>
            <a:ext cx="2057400" cy="123444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66944" y="2880360"/>
            <a:ext cx="2057400" cy="91440"/>
          </a:xfrm>
          <a:prstGeom prst="rect">
            <a:avLst/>
          </a:prstGeom>
          <a:solidFill>
            <a:srgbClr val="39D5D3"/>
          </a:solidFill>
          <a:ln>
            <a:solidFill>
              <a:srgbClr val="39D5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85816" y="3218688"/>
            <a:ext cx="181965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8FC"/>
                </a:solidFill>
                <a:latin typeface="Microsoft YaHei"/>
              </a:rPr>
              <a:t>MongoDB 文档管理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2944" y="2880360"/>
            <a:ext cx="2057400" cy="123444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52944" y="2880360"/>
            <a:ext cx="2057400" cy="91440"/>
          </a:xfrm>
          <a:prstGeom prst="rect">
            <a:avLst/>
          </a:prstGeom>
          <a:solidFill>
            <a:srgbClr val="57CC99"/>
          </a:solidFill>
          <a:ln>
            <a:solidFill>
              <a:srgbClr val="57C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71816" y="3218688"/>
            <a:ext cx="181965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8FC"/>
                </a:solidFill>
                <a:latin typeface="Microsoft YaHei"/>
              </a:rPr>
              <a:t>Web 个性化发现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38944" y="2880360"/>
            <a:ext cx="2057400" cy="1234440"/>
          </a:xfrm>
          <a:prstGeom prst="roundRect">
            <a:avLst/>
          </a:prstGeom>
          <a:solidFill>
            <a:srgbClr val="142134"/>
          </a:solidFill>
          <a:ln>
            <a:solidFill>
              <a:srgbClr val="142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38944" y="2880360"/>
            <a:ext cx="2057400" cy="91440"/>
          </a:xfrm>
          <a:prstGeom prst="rect">
            <a:avLst/>
          </a:prstGeom>
          <a:solidFill>
            <a:srgbClr val="FFBF47"/>
          </a:solidFill>
          <a:ln>
            <a:solidFill>
              <a:srgbClr val="FFB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57816" y="3218688"/>
            <a:ext cx="1819656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F8FC"/>
                </a:solidFill>
                <a:latin typeface="Microsoft YaHei"/>
              </a:rPr>
              <a:t>完整课程证据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6062472"/>
            <a:ext cx="10927080" cy="457200"/>
          </a:xfrm>
          <a:prstGeom prst="roundRect">
            <a:avLst/>
          </a:prstGeom>
          <a:solidFill>
            <a:srgbClr val="192A40"/>
          </a:solidFill>
          <a:ln>
            <a:solidFill>
              <a:srgbClr val="19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6135624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39D5D3"/>
                </a:solidFill>
                <a:latin typeface="Microsoft YaHei"/>
              </a:rPr>
              <a:t>先证明链路，再追求亮点。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074920"/>
            <a:ext cx="4526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AEBECF"/>
                </a:solidFill>
                <a:latin typeface="Microsoft YaHei"/>
              </a:rPr>
              <a:t>选题确认 · 等待人工评审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Spark 与 MongoDB 的多源技术内容知识挖掘与个性化发现 Web 系统</dc:title>
  <dc:subject>课程项目选题确认汇报，8～10 分钟版本</dc:subject>
  <dc:creator>陶文杰, 陈铭宇</dc:creator>
  <cp:keywords/>
  <dc:description>Generated from 课程项目选题汇报.md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